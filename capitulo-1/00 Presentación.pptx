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11_990517CC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0" r:id="rId9"/>
    <p:sldId id="443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2" r:id="rId20"/>
    <p:sldId id="271" r:id="rId21"/>
    <p:sldId id="273" r:id="rId22"/>
    <p:sldId id="442" r:id="rId23"/>
  </p:sldIdLst>
  <p:sldSz cx="12192000" cy="6858000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045AAB-121C-9002-AB65-CDEE1062A27A}" name="Ana Tello Cuellar" initials="ATC" userId="S::ana.tello@cibertec.pe::e58820f6-43f9-4762-bcc3-11a60662360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/>
    <p:restoredTop sz="94694"/>
  </p:normalViewPr>
  <p:slideViewPr>
    <p:cSldViewPr snapToGrid="0">
      <p:cViewPr varScale="1">
        <p:scale>
          <a:sx n="50" d="100"/>
          <a:sy n="50" d="100"/>
        </p:scale>
        <p:origin x="66" y="6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omments/modernComment_111_990517C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40F4E04-FB20-4FC4-82DD-292041D769E2}" authorId="{85045AAB-121C-9002-AB65-CDEE1062A27A}" created="2023-02-13T01:50:49.480">
    <pc:sldMkLst xmlns:pc="http://schemas.microsoft.com/office/powerpoint/2013/main/command">
      <pc:docMk/>
      <pc:sldMk cId="2567247820" sldId="273"/>
    </pc:sldMkLst>
    <p188:txBody>
      <a:bodyPr/>
      <a:lstStyle/>
      <a:p>
        <a:r>
          <a:rPr lang="es-PE"/>
          <a:t>Colocar la bibliografía.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n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n"/>
          <p:cNvSpPr txBox="1">
            <a:spLocks noGrp="1"/>
          </p:cNvSpPr>
          <p:nvPr>
            <p:ph type="dt" idx="10"/>
          </p:nvPr>
        </p:nvSpPr>
        <p:spPr>
          <a:xfrm>
            <a:off x="4021138" y="0"/>
            <a:ext cx="3038475" cy="47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  <a:def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9" name="Google Shape;29;n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" name="Google Shape;30;n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n"/>
          <p:cNvSpPr txBox="1"/>
          <p:nvPr/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n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75" cy="47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 sz="13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3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9558384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75" cy="47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3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9713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4633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1137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6987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8437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0998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38792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0724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5" name="Google Shape;1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76364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16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80507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6814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6dda168622_0_0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g6dda16862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06939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37106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1" name="Google Shape;19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16253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49279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0" name="Google Shape;22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7975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4" name="Google Shape;21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71616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53988" y="768350"/>
            <a:ext cx="6753225" cy="3798888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5AEC39-B3B1-4700-81B1-F6A52B0CE89D}" type="slidenum">
              <a:rPr lang="es-PE" smtClean="0"/>
              <a:pPr/>
              <a:t>19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97209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0"/>
            <a:ext cx="12191999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86606AB-C97E-CE7E-598C-8CEB8A6F5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5455"/>
            <a:ext cx="9144000" cy="2124508"/>
          </a:xfrm>
        </p:spPr>
        <p:txBody>
          <a:bodyPr anchor="b">
            <a:normAutofit/>
          </a:bodyPr>
          <a:lstStyle>
            <a:lvl1pPr algn="ctr">
              <a:defRPr sz="3375"/>
            </a:lvl1pPr>
          </a:lstStyle>
          <a:p>
            <a:r>
              <a:rPr lang="es-ES" dirty="0" smtClean="0"/>
              <a:t>Haga clic para modificar el estilo de título del patrón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97AFD4-21F6-EC26-AED2-557F8ABB5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688"/>
            </a:lvl1pPr>
            <a:lvl2pPr marL="192881" indent="0" algn="ctr">
              <a:buNone/>
              <a:defRPr sz="844"/>
            </a:lvl2pPr>
            <a:lvl3pPr marL="385763" indent="0" algn="ctr">
              <a:buNone/>
              <a:defRPr sz="760"/>
            </a:lvl3pPr>
            <a:lvl4pPr marL="578644" indent="0" algn="ctr">
              <a:buNone/>
              <a:defRPr sz="675"/>
            </a:lvl4pPr>
            <a:lvl5pPr marL="771525" indent="0" algn="ctr">
              <a:buNone/>
              <a:defRPr sz="675"/>
            </a:lvl5pPr>
            <a:lvl6pPr marL="964406" indent="0" algn="ctr">
              <a:buNone/>
              <a:defRPr sz="675"/>
            </a:lvl6pPr>
            <a:lvl7pPr marL="1157288" indent="0" algn="ctr">
              <a:buNone/>
              <a:defRPr sz="675"/>
            </a:lvl7pPr>
            <a:lvl8pPr marL="1350169" indent="0" algn="ctr">
              <a:buNone/>
              <a:defRPr sz="675"/>
            </a:lvl8pPr>
            <a:lvl9pPr marL="1543050" indent="0" algn="ctr">
              <a:buNone/>
              <a:defRPr sz="675"/>
            </a:lvl9pPr>
          </a:lstStyle>
          <a:p>
            <a:r>
              <a:rPr lang="es-ES" dirty="0" smtClean="0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562E8F-B664-85DB-2014-7298CD715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2A0AC-BBE1-164C-8F12-973C18039728}" type="datetimeFigureOut">
              <a:rPr lang="es-PE" smtClean="0"/>
              <a:t>8/05/2023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57ECAE-FB38-7A7A-4E0E-1208E1D79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BFACE8-1CCF-D4EE-1B66-EE5A419F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E46F-95B4-C84B-B630-E20AF8DF420E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737661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" y="0"/>
            <a:ext cx="12187067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25D70A8-A3FF-0BAA-F541-E2C400C40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9"/>
            <a:ext cx="9053945" cy="1325563"/>
          </a:xfrm>
        </p:spPr>
        <p:txBody>
          <a:bodyPr>
            <a:normAutofit/>
          </a:bodyPr>
          <a:lstStyle>
            <a:lvl1pPr algn="l">
              <a:defRPr sz="2475">
                <a:solidFill>
                  <a:srgbClr val="034461"/>
                </a:solidFill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0C60D6-F0D9-8677-BC64-4CF264242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38">
                <a:solidFill>
                  <a:srgbClr val="034461"/>
                </a:solidFill>
              </a:defRPr>
            </a:lvl1pPr>
            <a:lvl2pPr>
              <a:defRPr>
                <a:solidFill>
                  <a:srgbClr val="034461"/>
                </a:solidFill>
              </a:defRPr>
            </a:lvl2pPr>
            <a:lvl3pPr>
              <a:defRPr>
                <a:solidFill>
                  <a:srgbClr val="034461"/>
                </a:solidFill>
              </a:defRPr>
            </a:lvl3pPr>
            <a:lvl4pPr>
              <a:defRPr>
                <a:solidFill>
                  <a:srgbClr val="034461"/>
                </a:solidFill>
              </a:defRPr>
            </a:lvl4pPr>
            <a:lvl5pPr>
              <a:defRPr>
                <a:solidFill>
                  <a:srgbClr val="034461"/>
                </a:solidFill>
              </a:defRPr>
            </a:lvl5pPr>
          </a:lstStyle>
          <a:p>
            <a:pPr lvl="0"/>
            <a:r>
              <a:rPr lang="es-ES" dirty="0" smtClean="0"/>
              <a:t>Editar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702F91-BE28-9FD2-660A-9CE0D94D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2A0AC-BBE1-164C-8F12-973C18039728}" type="datetimeFigureOut">
              <a:rPr lang="es-PE" smtClean="0"/>
              <a:t>8/05/2023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A29A66-62B1-E141-4B83-F4457BC23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DBB4B2-8F96-6DDC-1BDE-C36CE6A70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E46F-95B4-C84B-B630-E20AF8DF420E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0294146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" y="0"/>
            <a:ext cx="12187067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3" y="365129"/>
            <a:ext cx="9007764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419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2A0AC-BBE1-164C-8F12-973C18039728}" type="datetimeFigureOut">
              <a:rPr lang="es-PE" smtClean="0"/>
              <a:t>8/05/2023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E46F-95B4-C84B-B630-E20AF8DF420E}" type="slidenum">
              <a:rPr lang="es-PE" smtClean="0"/>
              <a:t>‹Nº›</a:t>
            </a:fld>
            <a:endParaRPr lang="es-PE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A50C60D6-F0D9-8677-BC64-4CF264242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7981296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erre">
    <p:bg>
      <p:bgPr>
        <a:solidFill>
          <a:srgbClr val="009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5427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7638C37-C4E4-819A-4ABE-0793D73C8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2A0AC-BBE1-164C-8F12-973C18039728}" type="datetimeFigureOut">
              <a:rPr lang="es-PE" smtClean="0"/>
              <a:t>8/05/2023</a:t>
            </a:fld>
            <a:endParaRPr lang="es-PE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C5FAB76-A732-6F1B-1596-1E52CCF58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817C1D-A5EA-E474-A735-7BE954B0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E46F-95B4-C84B-B630-E20AF8DF420E}" type="slidenum">
              <a:rPr lang="es-PE" smtClean="0"/>
              <a:t>‹Nº›</a:t>
            </a:fld>
            <a:endParaRPr lang="es-PE" dirty="0"/>
          </a:p>
        </p:txBody>
      </p:sp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4799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rátula" preserve="1">
  <p:cSld name="Carátula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 txBox="1">
            <a:spLocks noGrp="1"/>
          </p:cNvSpPr>
          <p:nvPr>
            <p:ph type="ctrTitle"/>
          </p:nvPr>
        </p:nvSpPr>
        <p:spPr>
          <a:xfrm>
            <a:off x="1219200" y="2667000"/>
            <a:ext cx="9753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95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"/>
          <p:cNvSpPr txBox="1">
            <a:spLocks noGrp="1"/>
          </p:cNvSpPr>
          <p:nvPr>
            <p:ph type="subTitle" idx="1"/>
          </p:nvPr>
        </p:nvSpPr>
        <p:spPr>
          <a:xfrm>
            <a:off x="1236133" y="4419600"/>
            <a:ext cx="9736667" cy="364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>
            <a:lvl1pPr lvl="0" algn="ctr">
              <a:spcBef>
                <a:spcPts val="525"/>
              </a:spcBef>
              <a:spcAft>
                <a:spcPts val="0"/>
              </a:spcAft>
              <a:buSzPts val="1320"/>
              <a:buFont typeface="Arial"/>
              <a:buNone/>
              <a:defRPr sz="165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413"/>
              </a:spcBef>
              <a:spcAft>
                <a:spcPts val="0"/>
              </a:spcAft>
              <a:buSzPts val="1260"/>
              <a:buChar char="–"/>
              <a:defRPr/>
            </a:lvl2pPr>
            <a:lvl3pPr lvl="2" algn="l">
              <a:spcBef>
                <a:spcPts val="375"/>
              </a:spcBef>
              <a:spcAft>
                <a:spcPts val="0"/>
              </a:spcAft>
              <a:buSzPts val="1350"/>
              <a:buChar char="–"/>
              <a:defRPr/>
            </a:lvl3pPr>
            <a:lvl4pPr lvl="3" algn="l">
              <a:spcBef>
                <a:spcPts val="300"/>
              </a:spcBef>
              <a:spcAft>
                <a:spcPts val="0"/>
              </a:spcAft>
              <a:buSzPts val="1350"/>
              <a:buChar char="–"/>
              <a:defRPr/>
            </a:lvl4pPr>
            <a:lvl5pPr lvl="4" algn="l">
              <a:spcBef>
                <a:spcPts val="300"/>
              </a:spcBef>
              <a:spcAft>
                <a:spcPts val="0"/>
              </a:spcAft>
              <a:buSzPts val="1170"/>
              <a:buChar char="–"/>
              <a:defRPr/>
            </a:lvl5pPr>
            <a:lvl6pPr lvl="5" algn="l">
              <a:spcBef>
                <a:spcPts val="27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087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>
            <a:spLocks noGrp="1"/>
          </p:cNvSpPr>
          <p:nvPr>
            <p:ph type="title"/>
          </p:nvPr>
        </p:nvSpPr>
        <p:spPr>
          <a:xfrm>
            <a:off x="812800" y="439739"/>
            <a:ext cx="10557933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52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ierre">
    <p:bg>
      <p:bgPr>
        <a:solidFill>
          <a:srgbClr val="009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23 Grupo"/>
          <p:cNvGrpSpPr/>
          <p:nvPr/>
        </p:nvGrpSpPr>
        <p:grpSpPr>
          <a:xfrm>
            <a:off x="7447854" y="2790678"/>
            <a:ext cx="833903" cy="650841"/>
            <a:chOff x="894304" y="3428999"/>
            <a:chExt cx="816541" cy="849720"/>
          </a:xfrm>
        </p:grpSpPr>
        <p:sp>
          <p:nvSpPr>
            <p:cNvPr id="25" name="24 Conector"/>
            <p:cNvSpPr/>
            <p:nvPr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  <p:sp>
          <p:nvSpPr>
            <p:cNvPr id="26" name="25 Conector"/>
            <p:cNvSpPr/>
            <p:nvPr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  <p:sp>
          <p:nvSpPr>
            <p:cNvPr id="27" name="26 Conector"/>
            <p:cNvSpPr/>
            <p:nvPr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  <p:sp>
          <p:nvSpPr>
            <p:cNvPr id="28" name="27 Conector"/>
            <p:cNvSpPr/>
            <p:nvPr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9" name="28 Grupo"/>
          <p:cNvGrpSpPr/>
          <p:nvPr/>
        </p:nvGrpSpPr>
        <p:grpSpPr>
          <a:xfrm>
            <a:off x="7859462" y="3564928"/>
            <a:ext cx="824801" cy="647964"/>
            <a:chOff x="1285779" y="4472193"/>
            <a:chExt cx="807628" cy="845964"/>
          </a:xfrm>
        </p:grpSpPr>
        <p:sp>
          <p:nvSpPr>
            <p:cNvPr id="30" name="29 Conector"/>
            <p:cNvSpPr/>
            <p:nvPr/>
          </p:nvSpPr>
          <p:spPr>
            <a:xfrm>
              <a:off x="1285779" y="512015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  <p:sp>
          <p:nvSpPr>
            <p:cNvPr id="31" name="30 Conector"/>
            <p:cNvSpPr/>
            <p:nvPr/>
          </p:nvSpPr>
          <p:spPr>
            <a:xfrm>
              <a:off x="1491673" y="4906988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  <p:sp>
          <p:nvSpPr>
            <p:cNvPr id="32" name="31 Conector"/>
            <p:cNvSpPr/>
            <p:nvPr/>
          </p:nvSpPr>
          <p:spPr>
            <a:xfrm>
              <a:off x="1692941" y="468763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  <p:sp>
          <p:nvSpPr>
            <p:cNvPr id="33" name="32 Conector"/>
            <p:cNvSpPr/>
            <p:nvPr/>
          </p:nvSpPr>
          <p:spPr>
            <a:xfrm>
              <a:off x="1895407" y="4472193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34" name="33 Grupo"/>
          <p:cNvGrpSpPr/>
          <p:nvPr/>
        </p:nvGrpSpPr>
        <p:grpSpPr>
          <a:xfrm>
            <a:off x="8125335" y="2790678"/>
            <a:ext cx="833903" cy="650841"/>
            <a:chOff x="894304" y="3428999"/>
            <a:chExt cx="816541" cy="849720"/>
          </a:xfrm>
        </p:grpSpPr>
        <p:sp>
          <p:nvSpPr>
            <p:cNvPr id="35" name="34 Conector"/>
            <p:cNvSpPr/>
            <p:nvPr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  <p:sp>
          <p:nvSpPr>
            <p:cNvPr id="36" name="35 Conector"/>
            <p:cNvSpPr/>
            <p:nvPr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  <p:sp>
          <p:nvSpPr>
            <p:cNvPr id="37" name="36 Conector"/>
            <p:cNvSpPr/>
            <p:nvPr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  <p:sp>
          <p:nvSpPr>
            <p:cNvPr id="38" name="37 Conector"/>
            <p:cNvSpPr/>
            <p:nvPr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</p:grpSp>
      <p:sp>
        <p:nvSpPr>
          <p:cNvPr id="19" name="Text Placeholder 2"/>
          <p:cNvSpPr>
            <a:spLocks noGrp="1"/>
          </p:cNvSpPr>
          <p:nvPr>
            <p:ph idx="1" hasCustomPrompt="1"/>
          </p:nvPr>
        </p:nvSpPr>
        <p:spPr>
          <a:xfrm>
            <a:off x="440988" y="2579787"/>
            <a:ext cx="11266917" cy="1633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sz="3079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s-ES" dirty="0"/>
              <a:t>Gracias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589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Cierre">
    <p:bg>
      <p:bgPr>
        <a:solidFill>
          <a:srgbClr val="009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23 Grupo"/>
          <p:cNvGrpSpPr/>
          <p:nvPr/>
        </p:nvGrpSpPr>
        <p:grpSpPr>
          <a:xfrm>
            <a:off x="7447852" y="2790676"/>
            <a:ext cx="833903" cy="650841"/>
            <a:chOff x="894304" y="3428999"/>
            <a:chExt cx="816541" cy="849720"/>
          </a:xfrm>
        </p:grpSpPr>
        <p:sp>
          <p:nvSpPr>
            <p:cNvPr id="25" name="24 Conector"/>
            <p:cNvSpPr/>
            <p:nvPr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  <p:sp>
          <p:nvSpPr>
            <p:cNvPr id="26" name="25 Conector"/>
            <p:cNvSpPr/>
            <p:nvPr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  <p:sp>
          <p:nvSpPr>
            <p:cNvPr id="27" name="26 Conector"/>
            <p:cNvSpPr/>
            <p:nvPr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  <p:sp>
          <p:nvSpPr>
            <p:cNvPr id="28" name="27 Conector"/>
            <p:cNvSpPr/>
            <p:nvPr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9" name="28 Grupo"/>
          <p:cNvGrpSpPr/>
          <p:nvPr/>
        </p:nvGrpSpPr>
        <p:grpSpPr>
          <a:xfrm>
            <a:off x="7859461" y="3564928"/>
            <a:ext cx="824801" cy="647964"/>
            <a:chOff x="1285779" y="4472193"/>
            <a:chExt cx="807628" cy="845964"/>
          </a:xfrm>
        </p:grpSpPr>
        <p:sp>
          <p:nvSpPr>
            <p:cNvPr id="30" name="29 Conector"/>
            <p:cNvSpPr/>
            <p:nvPr/>
          </p:nvSpPr>
          <p:spPr>
            <a:xfrm>
              <a:off x="1285779" y="512015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  <p:sp>
          <p:nvSpPr>
            <p:cNvPr id="31" name="30 Conector"/>
            <p:cNvSpPr/>
            <p:nvPr/>
          </p:nvSpPr>
          <p:spPr>
            <a:xfrm>
              <a:off x="1491673" y="4906988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  <p:sp>
          <p:nvSpPr>
            <p:cNvPr id="32" name="31 Conector"/>
            <p:cNvSpPr/>
            <p:nvPr/>
          </p:nvSpPr>
          <p:spPr>
            <a:xfrm>
              <a:off x="1692941" y="468763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  <p:sp>
          <p:nvSpPr>
            <p:cNvPr id="33" name="32 Conector"/>
            <p:cNvSpPr/>
            <p:nvPr/>
          </p:nvSpPr>
          <p:spPr>
            <a:xfrm>
              <a:off x="1895407" y="4472193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34" name="33 Grupo"/>
          <p:cNvGrpSpPr/>
          <p:nvPr/>
        </p:nvGrpSpPr>
        <p:grpSpPr>
          <a:xfrm>
            <a:off x="8125334" y="2790676"/>
            <a:ext cx="833903" cy="650841"/>
            <a:chOff x="894304" y="3428999"/>
            <a:chExt cx="816541" cy="849720"/>
          </a:xfrm>
        </p:grpSpPr>
        <p:sp>
          <p:nvSpPr>
            <p:cNvPr id="35" name="34 Conector"/>
            <p:cNvSpPr/>
            <p:nvPr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  <p:sp>
          <p:nvSpPr>
            <p:cNvPr id="36" name="35 Conector"/>
            <p:cNvSpPr/>
            <p:nvPr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  <p:sp>
          <p:nvSpPr>
            <p:cNvPr id="37" name="36 Conector"/>
            <p:cNvSpPr/>
            <p:nvPr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  <p:sp>
          <p:nvSpPr>
            <p:cNvPr id="38" name="37 Conector"/>
            <p:cNvSpPr/>
            <p:nvPr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167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E88DDC1-14A3-C6A9-B097-512ED0B45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EF6BF9-086F-65CD-B94B-31A6BC040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DF783F-FA67-9D6E-C8F6-9575CCEE5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6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2AE2A0AC-BBE1-164C-8F12-973C18039728}" type="datetimeFigureOut">
              <a:rPr lang="es-PE" smtClean="0"/>
              <a:pPr/>
              <a:t>8/05/2023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9DB767-EF16-0C25-D092-ACBCD4837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6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s-PE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374E18-932E-411E-DED4-1C6CEFDFE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6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1226E46F-95B4-C84B-B630-E20AF8DF420E}" type="slidenum">
              <a:rPr lang="es-PE" smtClean="0"/>
              <a:pPr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15983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</p:sldLayoutIdLst>
  <p:timing>
    <p:tnLst>
      <p:par>
        <p:cTn id="1" dur="indefinite" restart="never" nodeType="tmRoot"/>
      </p:par>
    </p:tnLst>
  </p:timing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ython_(programming_language)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ev/peps/pep-0020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dureka.co/blog/python-interesting-facts-you-need-to-know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" TargetMode="External"/><Relationship Id="rId2" Type="http://schemas.openxmlformats.org/officeDocument/2006/relationships/hyperlink" Target="https://www.python.org/doc/" TargetMode="External"/><Relationship Id="rId1" Type="http://schemas.openxmlformats.org/officeDocument/2006/relationships/slideLayout" Target="../slideLayouts/slideLayout2.xml"/><Relationship Id="rId6" Type="http://schemas.microsoft.com/office/2018/10/relationships/comments" Target="../comments/modernComment_111_990517CC.xml"/><Relationship Id="rId5" Type="http://schemas.openxmlformats.org/officeDocument/2006/relationships/hyperlink" Target="https://www.kaggle.com/" TargetMode="External"/><Relationship Id="rId4" Type="http://schemas.openxmlformats.org/officeDocument/2006/relationships/hyperlink" Target="https://www.tensorflow.org/?hl=es-419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ítulo 1"/>
          <p:cNvSpPr txBox="1">
            <a:spLocks/>
          </p:cNvSpPr>
          <p:nvPr/>
        </p:nvSpPr>
        <p:spPr>
          <a:xfrm>
            <a:off x="1524000" y="1828800"/>
            <a:ext cx="9144000" cy="2124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PYTHON FUNDAMENTALS FOR DATA SCIENCE</a:t>
            </a:r>
            <a:r>
              <a:rPr lang="es-PE" sz="6000" b="1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es-419" sz="60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" name="Subtítulo 2"/>
          <p:cNvSpPr txBox="1">
            <a:spLocks/>
          </p:cNvSpPr>
          <p:nvPr/>
        </p:nvSpPr>
        <p:spPr>
          <a:xfrm>
            <a:off x="1524000" y="41354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51435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None/>
              <a:defRPr sz="225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257175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1125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14350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1013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771525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028700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285875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43050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00225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s-ES" sz="3000" dirty="0" smtClean="0"/>
              <a:t>Capítulo 1: </a:t>
            </a:r>
            <a:r>
              <a:rPr lang="es-ES" sz="3000" dirty="0" smtClean="0">
                <a:ea typeface="Calibri Light" panose="020F0302020204030204" pitchFamily="34" charset="0"/>
              </a:rPr>
              <a:t>Fundamentos </a:t>
            </a:r>
            <a:r>
              <a:rPr lang="es-ES" sz="3000" dirty="0">
                <a:ea typeface="Calibri Light" panose="020F0302020204030204" pitchFamily="34" charset="0"/>
              </a:rPr>
              <a:t>de Python</a:t>
            </a:r>
          </a:p>
          <a:p>
            <a:pPr>
              <a:buClrTx/>
            </a:pPr>
            <a:r>
              <a:rPr lang="es-ES" sz="3000" dirty="0" smtClean="0"/>
              <a:t>	</a:t>
            </a:r>
            <a:br>
              <a:rPr lang="es-ES" sz="3000" dirty="0" smtClean="0"/>
            </a:br>
            <a:endParaRPr lang="es-419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OBJETIVOS</a:t>
            </a:r>
            <a:endParaRPr lang="es-PE" sz="4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6" name="Google Shape;116;p1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457200" lvl="0" indent="-457200" algn="just"/>
            <a:r>
              <a:rPr lang="es-PE" sz="2800" dirty="0">
                <a:solidFill>
                  <a:srgbClr val="004C6F"/>
                </a:solidFill>
              </a:rPr>
              <a:t>Identificar los conceptos y utilidad del lenguaje de programación Python.</a:t>
            </a:r>
          </a:p>
          <a:p>
            <a:pPr marL="457200" lvl="0" indent="-457200" algn="just"/>
            <a:r>
              <a:rPr lang="es-PE" sz="2800" dirty="0">
                <a:solidFill>
                  <a:srgbClr val="004C6F"/>
                </a:solidFill>
              </a:rPr>
              <a:t>Ejecutar Python en el </a:t>
            </a:r>
            <a:r>
              <a:rPr lang="es-PE" sz="2800" dirty="0" err="1">
                <a:solidFill>
                  <a:srgbClr val="004C6F"/>
                </a:solidFill>
              </a:rPr>
              <a:t>Workbook</a:t>
            </a:r>
            <a:r>
              <a:rPr lang="es-PE" sz="2800" dirty="0">
                <a:solidFill>
                  <a:srgbClr val="004C6F"/>
                </a:solidFill>
              </a:rPr>
              <a:t> </a:t>
            </a:r>
            <a:r>
              <a:rPr lang="es-PE" sz="2800" dirty="0" err="1">
                <a:solidFill>
                  <a:srgbClr val="004C6F"/>
                </a:solidFill>
              </a:rPr>
              <a:t>Jupyter</a:t>
            </a:r>
            <a:r>
              <a:rPr lang="es-PE" sz="2800" dirty="0">
                <a:solidFill>
                  <a:srgbClr val="004C6F"/>
                </a:solidFill>
              </a:rPr>
              <a:t>.</a:t>
            </a:r>
          </a:p>
          <a:p>
            <a:pPr marL="342900" marR="115570" indent="-342900" algn="just">
              <a:buClr>
                <a:srgbClr val="000000"/>
              </a:buClr>
              <a:buFont typeface="Arial" panose="020B0604020202020204" pitchFamily="34" charset="0"/>
              <a:buChar char="●"/>
              <a:tabLst>
                <a:tab pos="357505" algn="l"/>
              </a:tabLst>
            </a:pPr>
            <a:endParaRPr lang="es-PE" sz="2800" dirty="0">
              <a:solidFill>
                <a:srgbClr val="004C6F"/>
              </a:solidFill>
              <a:ea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AGENDA</a:t>
            </a:r>
            <a:endParaRPr lang="es-PE" sz="4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2" name="Google Shape;122;p1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indent="-457200">
              <a:spcBef>
                <a:spcPts val="600"/>
              </a:spcBef>
              <a:spcAft>
                <a:spcPts val="600"/>
              </a:spcAft>
              <a:buClr>
                <a:srgbClr val="004C6F"/>
              </a:buClr>
              <a:buSzPct val="100000"/>
              <a:buFont typeface="+mj-lt"/>
              <a:buAutoNum type="arabicPeriod"/>
            </a:pPr>
            <a:r>
              <a:rPr lang="es-PE" sz="2800" dirty="0" smtClean="0"/>
              <a:t>Python</a:t>
            </a:r>
            <a:endParaRPr sz="2800" dirty="0"/>
          </a:p>
          <a:p>
            <a:pPr indent="-457200">
              <a:spcBef>
                <a:spcPts val="600"/>
              </a:spcBef>
              <a:spcAft>
                <a:spcPts val="600"/>
              </a:spcAft>
              <a:buClr>
                <a:srgbClr val="004C6F"/>
              </a:buClr>
              <a:buSzPct val="100000"/>
              <a:buFont typeface="+mj-lt"/>
              <a:buAutoNum type="arabicPeriod"/>
            </a:pPr>
            <a:r>
              <a:rPr lang="es-PE" sz="2800" dirty="0"/>
              <a:t>El Zen de </a:t>
            </a:r>
            <a:r>
              <a:rPr lang="es-PE" sz="2800" dirty="0" smtClean="0"/>
              <a:t>Python</a:t>
            </a:r>
            <a:endParaRPr sz="2800" dirty="0"/>
          </a:p>
          <a:p>
            <a:pPr indent="-457200">
              <a:spcBef>
                <a:spcPts val="600"/>
              </a:spcBef>
              <a:spcAft>
                <a:spcPts val="600"/>
              </a:spcAft>
              <a:buClr>
                <a:srgbClr val="004C6F"/>
              </a:buClr>
              <a:buSzPct val="100000"/>
              <a:buFont typeface="+mj-lt"/>
              <a:buAutoNum type="arabicPeriod"/>
            </a:pPr>
            <a:r>
              <a:rPr lang="es-PE" sz="2800" dirty="0"/>
              <a:t>Usos de </a:t>
            </a:r>
            <a:r>
              <a:rPr lang="es-PE" sz="2800" dirty="0" smtClean="0"/>
              <a:t>Python</a:t>
            </a:r>
            <a:endParaRPr sz="2800" dirty="0"/>
          </a:p>
          <a:p>
            <a:pPr indent="-457200">
              <a:spcBef>
                <a:spcPts val="600"/>
              </a:spcBef>
              <a:spcAft>
                <a:spcPts val="600"/>
              </a:spcAft>
              <a:buClr>
                <a:srgbClr val="004C6F"/>
              </a:buClr>
              <a:buSzPct val="100000"/>
              <a:buFont typeface="+mj-lt"/>
              <a:buAutoNum type="arabicPeriod"/>
            </a:pPr>
            <a:r>
              <a:rPr lang="es-PE" sz="2800" dirty="0"/>
              <a:t>¿Quiénes usan Python?</a:t>
            </a:r>
            <a:endParaRPr sz="2800" dirty="0"/>
          </a:p>
          <a:p>
            <a:pPr indent="-457200">
              <a:spcBef>
                <a:spcPts val="600"/>
              </a:spcBef>
              <a:spcAft>
                <a:spcPts val="600"/>
              </a:spcAft>
              <a:buClr>
                <a:srgbClr val="004C6F"/>
              </a:buClr>
              <a:buSzPct val="100000"/>
              <a:buFont typeface="+mj-lt"/>
              <a:buAutoNum type="arabicPeriod"/>
            </a:pPr>
            <a:r>
              <a:rPr lang="es-PE" sz="2800" dirty="0" smtClean="0"/>
              <a:t>Lenguaje</a:t>
            </a:r>
            <a:endParaRPr sz="2800" dirty="0"/>
          </a:p>
          <a:p>
            <a:pPr marL="342900" indent="-203200">
              <a:spcBef>
                <a:spcPts val="600"/>
              </a:spcBef>
              <a:spcAft>
                <a:spcPts val="600"/>
              </a:spcAft>
              <a:buClr>
                <a:srgbClr val="004C6F"/>
              </a:buClr>
              <a:buSzPct val="100000"/>
            </a:pPr>
            <a:endParaRPr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PYTHON</a:t>
            </a:r>
            <a:endParaRPr lang="es-PE" sz="4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8" name="Google Shape;128;p1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342900" indent="-342900" algn="just">
              <a:spcBef>
                <a:spcPts val="0"/>
              </a:spcBef>
              <a:buSzPts val="2200"/>
              <a:buFont typeface="Arial"/>
              <a:buChar char="•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Lenguaje interpretado y de alto nivel.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 algn="just">
              <a:buSzPts val="2200"/>
              <a:buFont typeface="Arial"/>
              <a:buChar char="•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Creado por Guido van Rossum en 1991.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 algn="just">
              <a:buSzPts val="2200"/>
              <a:buFont typeface="Arial"/>
              <a:buChar char="•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Soporta varios paradigmas de programación: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982663" lvl="1" indent="-342900" algn="just">
              <a:buSzPts val="2000"/>
              <a:buFont typeface="Arial"/>
              <a:buChar char="-"/>
            </a:pPr>
            <a:r>
              <a:rPr lang="es-PE" sz="20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Estructurado</a:t>
            </a:r>
            <a:endParaRPr sz="20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982663" lvl="1" indent="-342900" algn="just">
              <a:buSzPts val="2000"/>
              <a:buFont typeface="Arial"/>
              <a:buChar char="-"/>
            </a:pPr>
            <a:r>
              <a:rPr lang="es-PE" sz="20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OOP</a:t>
            </a:r>
            <a:endParaRPr sz="20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982663" lvl="1" indent="-342900" algn="just">
              <a:buSzPts val="2000"/>
              <a:buFont typeface="Arial"/>
              <a:buChar char="-"/>
            </a:pPr>
            <a:r>
              <a:rPr lang="es-PE" sz="20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Funcional</a:t>
            </a:r>
            <a:endParaRPr sz="20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982663" lvl="1" indent="-342900" algn="just">
              <a:buSzPts val="2000"/>
              <a:buFont typeface="Arial"/>
              <a:buChar char="-"/>
            </a:pPr>
            <a:r>
              <a:rPr lang="es-PE" sz="20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Otros</a:t>
            </a:r>
            <a:endParaRPr sz="20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 algn="just">
              <a:buSzPts val="2200"/>
              <a:buFont typeface="Arial"/>
              <a:buChar char="•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Extendible (librerías).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66713" lvl="1" indent="0" algn="just">
              <a:buSzPts val="1400"/>
              <a:buNone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Enlace: </a:t>
            </a:r>
            <a:r>
              <a:rPr lang="es-PE" sz="2400" u="sng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https://en.wikipedia.org/wiki/python_(programming_language)</a:t>
            </a: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203200" algn="just">
              <a:buSzPts val="2200"/>
            </a:pPr>
            <a:endParaRPr sz="28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 algn="just">
              <a:buSzPts val="1320"/>
            </a:pPr>
            <a:endParaRPr sz="28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nl-NL" sz="44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2. EL ZEN DE PYTHON</a:t>
            </a:r>
            <a:endParaRPr lang="nl-NL" sz="4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4" name="Google Shape;134;p2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533400" indent="-533400">
              <a:spcBef>
                <a:spcPts val="0"/>
              </a:spcBef>
              <a:buClr>
                <a:srgbClr val="004C6F"/>
              </a:buClr>
              <a:buSzPct val="100000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Beautiful is better than ugly.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33400" indent="-533400">
              <a:spcBef>
                <a:spcPts val="0"/>
              </a:spcBef>
              <a:buClr>
                <a:srgbClr val="004C6F"/>
              </a:buClr>
              <a:buSzPct val="100000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Explicit is better than implicit.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33400" indent="-533400">
              <a:spcBef>
                <a:spcPts val="0"/>
              </a:spcBef>
              <a:buClr>
                <a:srgbClr val="004C6F"/>
              </a:buClr>
              <a:buSzPct val="100000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Simple is better than complex.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33400" indent="-533400">
              <a:spcBef>
                <a:spcPts val="0"/>
              </a:spcBef>
              <a:buClr>
                <a:srgbClr val="004C6F"/>
              </a:buClr>
              <a:buSzPct val="100000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Complex is better than complicated.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33400" indent="-533400">
              <a:spcBef>
                <a:spcPts val="0"/>
              </a:spcBef>
              <a:buClr>
                <a:srgbClr val="004C6F"/>
              </a:buClr>
              <a:buSzPct val="100000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Flat is better than nested.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33400" indent="-533400">
              <a:spcBef>
                <a:spcPts val="0"/>
              </a:spcBef>
              <a:buClr>
                <a:srgbClr val="004C6F"/>
              </a:buClr>
              <a:buSzPct val="100000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Sparse is better than dense.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33400" indent="-533400">
              <a:spcBef>
                <a:spcPts val="0"/>
              </a:spcBef>
              <a:buClr>
                <a:srgbClr val="004C6F"/>
              </a:buClr>
              <a:buSzPct val="100000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Readability counts.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33400" indent="-533400">
              <a:spcBef>
                <a:spcPts val="0"/>
              </a:spcBef>
              <a:buClr>
                <a:srgbClr val="004C6F"/>
              </a:buClr>
              <a:buSzPct val="100000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Special cases aren't special enough to break the rules.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33400" indent="-533400">
              <a:spcBef>
                <a:spcPts val="0"/>
              </a:spcBef>
              <a:buClr>
                <a:srgbClr val="004C6F"/>
              </a:buClr>
              <a:buSzPct val="100000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Although practicality beats purity.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33400" indent="-533400">
              <a:spcBef>
                <a:spcPts val="0"/>
              </a:spcBef>
              <a:buClr>
                <a:srgbClr val="004C6F"/>
              </a:buClr>
              <a:buSzPct val="100000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Errors should never pass silently.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33400" indent="-533400">
              <a:spcBef>
                <a:spcPts val="0"/>
              </a:spcBef>
              <a:buClr>
                <a:srgbClr val="004C6F"/>
              </a:buClr>
              <a:buSzPct val="100000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Unless explicitly silenced.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33400" indent="-533400">
              <a:spcBef>
                <a:spcPts val="0"/>
              </a:spcBef>
              <a:buClr>
                <a:srgbClr val="004C6F"/>
              </a:buClr>
              <a:buSzPct val="100000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 the face of ambiguity, refuse the temptation to </a:t>
            </a:r>
            <a:r>
              <a:rPr lang="es-PE" sz="2400" dirty="0" err="1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guess</a:t>
            </a:r>
            <a:r>
              <a:rPr lang="es-PE" sz="2400" dirty="0" smtClean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nl-NL" sz="44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2. EL ZEN DE PYTHON</a:t>
            </a:r>
            <a:endParaRPr lang="nl-NL" sz="4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4" name="Google Shape;134;p2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004C6F"/>
              </a:buClr>
              <a:buSzPct val="100000"/>
            </a:pPr>
            <a:r>
              <a:rPr lang="es-PE" sz="2400" dirty="0" smtClean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 </a:t>
            </a: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face of ambiguity, refuse the temptation to guess.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spcBef>
                <a:spcPts val="0"/>
              </a:spcBef>
              <a:buClr>
                <a:srgbClr val="004C6F"/>
              </a:buClr>
              <a:buSzPct val="100000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There should be one-- and preferably only one --obvious way to do it.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spcBef>
                <a:spcPts val="0"/>
              </a:spcBef>
              <a:buClr>
                <a:srgbClr val="004C6F"/>
              </a:buClr>
              <a:buSzPct val="100000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Although that way may not be obvious at first unless you're Dutch.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spcBef>
                <a:spcPts val="0"/>
              </a:spcBef>
              <a:buClr>
                <a:srgbClr val="004C6F"/>
              </a:buClr>
              <a:buSzPct val="100000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Now is better than never.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spcBef>
                <a:spcPts val="0"/>
              </a:spcBef>
              <a:buClr>
                <a:srgbClr val="004C6F"/>
              </a:buClr>
              <a:buSzPct val="100000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Although never is often better than *right* now.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spcBef>
                <a:spcPts val="0"/>
              </a:spcBef>
              <a:buClr>
                <a:srgbClr val="004C6F"/>
              </a:buClr>
              <a:buSzPct val="100000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If the implementation is hard to explain, it's a bad idea.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spcBef>
                <a:spcPts val="0"/>
              </a:spcBef>
              <a:buClr>
                <a:srgbClr val="004C6F"/>
              </a:buClr>
              <a:buSzPct val="100000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If the implementation is easy to explain, it may be a good idea.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spcBef>
                <a:spcPts val="0"/>
              </a:spcBef>
              <a:buClr>
                <a:srgbClr val="004C6F"/>
              </a:buClr>
              <a:buSzPct val="100000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Namespaces are one honking great idea -- let's do more of those.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1" indent="-342900" algn="just">
              <a:buClr>
                <a:srgbClr val="004C6F"/>
              </a:buClr>
              <a:buSzPct val="100000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Enlace: </a:t>
            </a:r>
            <a:r>
              <a:rPr lang="es-PE" sz="2400" u="sng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https://www.python.org/dev/peps/pep-0020/</a:t>
            </a: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66713" lvl="1" indent="0" algn="just">
              <a:buSzPts val="1400"/>
              <a:buNone/>
            </a:pPr>
            <a:endParaRPr sz="16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254000" algn="just">
              <a:buSzPts val="1400"/>
            </a:pPr>
            <a:endParaRPr sz="16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32409" algn="just">
              <a:buSzPts val="840"/>
            </a:pPr>
            <a:endParaRPr sz="16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03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3. USOS DE PYTHON</a:t>
            </a:r>
            <a:endParaRPr lang="es-PE" sz="4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40" name="Google Shape;14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5708" y="1987421"/>
            <a:ext cx="7056784" cy="362744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/>
          <p:nvPr/>
        </p:nvSpPr>
        <p:spPr>
          <a:xfrm>
            <a:off x="1562100" y="5894041"/>
            <a:ext cx="9144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s-PE" sz="1000" u="sng" dirty="0">
                <a:solidFill>
                  <a:srgbClr val="004C6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https://www.edureka.co/blog/python-interesting-facts-you-need-to-know/</a:t>
            </a:r>
            <a:r>
              <a:rPr lang="es-PE" sz="1000" dirty="0">
                <a:solidFill>
                  <a:srgbClr val="004C6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</a:t>
            </a:r>
            <a:endParaRPr sz="1000" dirty="0">
              <a:solidFill>
                <a:srgbClr val="004C6F"/>
              </a:solidFill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4. ¿QUIÉNES USAN PYTHON?</a:t>
            </a:r>
            <a:endParaRPr lang="es-PE" sz="4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47" name="Google Shape;14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7706" y="3571667"/>
            <a:ext cx="2455380" cy="1137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2" descr="Resultado de imagen para spotify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7558" y="2026662"/>
            <a:ext cx="1858110" cy="975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2" descr="Resultado de imagen para youtub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28382" y="1715294"/>
            <a:ext cx="2455380" cy="152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 descr="Resultado de imagen para quora"/>
          <p:cNvPicPr preferRelativeResize="0"/>
          <p:nvPr/>
        </p:nvPicPr>
        <p:blipFill rotWithShape="1">
          <a:blip r:embed="rId6">
            <a:alphaModFix/>
          </a:blip>
          <a:srcRect t="29910" b="28363"/>
          <a:stretch/>
        </p:blipFill>
        <p:spPr>
          <a:xfrm>
            <a:off x="6199634" y="5316548"/>
            <a:ext cx="2827584" cy="786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2" descr="Imagen relacionada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51362" y="3654555"/>
            <a:ext cx="1734426" cy="971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988859" y="5037303"/>
            <a:ext cx="1734426" cy="1345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533400" indent="-533400"/>
            <a:r>
              <a:rPr lang="es-PE" sz="44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5. LENGUAJE</a:t>
            </a:r>
            <a:r>
              <a:rPr lang="es-PE" sz="3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lang="es-PE" sz="3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s-PE" sz="32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 Indentación -</a:t>
            </a:r>
            <a:endParaRPr sz="32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58" name="Google Shape;158;p23"/>
          <p:cNvSpPr/>
          <p:nvPr/>
        </p:nvSpPr>
        <p:spPr>
          <a:xfrm>
            <a:off x="6517636" y="3159260"/>
            <a:ext cx="4569463" cy="612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Asegurar indentación con </a:t>
            </a:r>
            <a:r>
              <a:rPr lang="es-PE" sz="2400" b="1" dirty="0">
                <a:solidFill>
                  <a:srgbClr val="004C6F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TAB.</a:t>
            </a: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59" name="Google Shape;15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49849" y="2400594"/>
            <a:ext cx="3842977" cy="2675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533400" indent="-533400"/>
            <a:r>
              <a:rPr lang="es-PE" sz="4400" dirty="0">
                <a:ea typeface="Calibri Light" panose="020F0302020204030204" pitchFamily="34" charset="0"/>
              </a:rPr>
              <a:t>5. </a:t>
            </a:r>
            <a:r>
              <a:rPr lang="es-PE" sz="4400" dirty="0" smtClean="0">
                <a:ea typeface="Calibri Light" panose="020F0302020204030204" pitchFamily="34" charset="0"/>
              </a:rPr>
              <a:t>LENGUAJE</a:t>
            </a:r>
            <a:r>
              <a:rPr lang="es-PE" sz="4400" dirty="0">
                <a:ea typeface="Calibri Light" panose="020F0302020204030204" pitchFamily="34" charset="0"/>
              </a:rPr>
              <a:t/>
            </a:r>
            <a:br>
              <a:rPr lang="es-PE" sz="4400" dirty="0">
                <a:ea typeface="Calibri Light" panose="020F0302020204030204" pitchFamily="34" charset="0"/>
              </a:rPr>
            </a:br>
            <a:r>
              <a:rPr lang="es-PE" sz="3200" dirty="0">
                <a:ea typeface="Calibri Light" panose="020F0302020204030204" pitchFamily="34" charset="0"/>
              </a:rPr>
              <a:t>- Tipos de datos y operadores -</a:t>
            </a:r>
            <a:endParaRPr sz="3200" dirty="0">
              <a:ea typeface="Calibri Light" panose="020F0302020204030204" pitchFamily="34" charset="0"/>
            </a:endParaRPr>
          </a:p>
        </p:txBody>
      </p:sp>
      <p:sp>
        <p:nvSpPr>
          <p:cNvPr id="165" name="Google Shape;165;p2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342900" indent="-342900" algn="just">
              <a:spcBef>
                <a:spcPts val="0"/>
              </a:spcBef>
              <a:buSzPts val="2200"/>
              <a:buFont typeface="Arial"/>
              <a:buChar char="•"/>
            </a:pPr>
            <a:r>
              <a:rPr lang="es-PE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Nombre variable = tipo de dato</a:t>
            </a:r>
            <a:endParaRPr sz="2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spcBef>
                <a:spcPts val="0"/>
              </a:spcBef>
              <a:buSzPts val="1320"/>
            </a:pPr>
            <a:endParaRPr sz="28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 algn="just">
              <a:buSzPts val="2200"/>
              <a:buFont typeface="Arial"/>
              <a:buChar char="•"/>
            </a:pPr>
            <a:r>
              <a:rPr lang="es-PE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Entero: Número = 7</a:t>
            </a:r>
            <a:endParaRPr sz="2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 algn="just">
              <a:buSzPts val="2200"/>
              <a:buFont typeface="Arial"/>
              <a:buChar char="•"/>
            </a:pPr>
            <a:r>
              <a:rPr lang="es-PE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Decimal: Decimal = 70.56</a:t>
            </a:r>
            <a:endParaRPr sz="2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 algn="just">
              <a:buSzPts val="2200"/>
              <a:buFont typeface="Arial"/>
              <a:buChar char="•"/>
            </a:pPr>
            <a:r>
              <a:rPr lang="es-PE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Texto: Palabras = “Hello World”</a:t>
            </a:r>
            <a:endParaRPr sz="2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203200" algn="just">
              <a:buSzPts val="2200"/>
            </a:pPr>
            <a:endParaRPr sz="2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 algn="just">
              <a:buSzPts val="2200"/>
              <a:buFont typeface="Arial"/>
              <a:buChar char="•"/>
            </a:pPr>
            <a:r>
              <a:rPr lang="es-PE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¿Cómo imprimir en pantalla?</a:t>
            </a:r>
            <a:endParaRPr sz="2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 algn="just">
              <a:buSzPts val="2200"/>
            </a:pPr>
            <a:r>
              <a:rPr lang="es-PE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print(palabras)</a:t>
            </a:r>
            <a:endParaRPr sz="2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203200" algn="just">
              <a:buSzPts val="2200"/>
            </a:pPr>
            <a:endParaRPr sz="2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SzPts val="1320"/>
            </a:pPr>
            <a:endParaRPr sz="2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533400" indent="-533400"/>
            <a:r>
              <a:rPr lang="es-PE" sz="4400" dirty="0" smtClean="0">
                <a:ea typeface="Calibri Light" panose="020F0302020204030204" pitchFamily="34" charset="0"/>
              </a:rPr>
              <a:t>5. LENGUAJE</a:t>
            </a:r>
            <a:r>
              <a:rPr lang="es-PE" sz="4400" dirty="0">
                <a:ea typeface="Calibri Light" panose="020F0302020204030204" pitchFamily="34" charset="0"/>
              </a:rPr>
              <a:t/>
            </a:r>
            <a:br>
              <a:rPr lang="es-PE" sz="4400" dirty="0">
                <a:ea typeface="Calibri Light" panose="020F0302020204030204" pitchFamily="34" charset="0"/>
              </a:rPr>
            </a:br>
            <a:r>
              <a:rPr lang="es-PE" sz="3200" dirty="0">
                <a:ea typeface="Calibri Light" panose="020F0302020204030204" pitchFamily="34" charset="0"/>
              </a:rPr>
              <a:t>- Colecciones de datos -</a:t>
            </a:r>
            <a:endParaRPr sz="3200" dirty="0">
              <a:ea typeface="Calibri Light" panose="020F0302020204030204" pitchFamily="34" charset="0"/>
            </a:endParaRPr>
          </a:p>
        </p:txBody>
      </p:sp>
      <p:sp>
        <p:nvSpPr>
          <p:cNvPr id="171" name="Google Shape;171;p2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342900" indent="-342900" algn="just">
              <a:spcBef>
                <a:spcPts val="0"/>
              </a:spcBef>
              <a:buSzPts val="2200"/>
              <a:buFont typeface="Arial"/>
              <a:buChar char="•"/>
            </a:pPr>
            <a:r>
              <a:rPr lang="es-PE" sz="24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Una lista permite crear colecciones de datos. 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203200" algn="just">
              <a:buSzPts val="2200"/>
            </a:pP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203200" algn="just">
              <a:buSzPts val="2200"/>
            </a:pP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639763" lvl="1" indent="0" algn="just">
              <a:buSzPts val="2000"/>
              <a:buNone/>
            </a:pPr>
            <a:r>
              <a:rPr lang="es-PE" sz="2400" b="1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Funciones claves:</a:t>
            </a: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982663" lvl="1" indent="-342900" algn="just">
              <a:buSzPts val="2000"/>
              <a:buFont typeface="Arial"/>
              <a:buChar char="-"/>
            </a:pPr>
            <a:r>
              <a:rPr lang="es-PE" sz="20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list(): convertir a lista</a:t>
            </a:r>
            <a:endParaRPr sz="20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982663" lvl="1" indent="-342900" algn="just">
              <a:buSzPts val="2000"/>
              <a:buFont typeface="Arial"/>
              <a:buChar char="-"/>
            </a:pPr>
            <a:r>
              <a:rPr lang="es-PE" sz="20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append(): agregar a lista 1 elemento</a:t>
            </a:r>
            <a:endParaRPr sz="20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982663" lvl="1" indent="-342900" algn="just">
              <a:buSzPts val="2000"/>
              <a:buFont typeface="Arial"/>
              <a:buChar char="-"/>
            </a:pPr>
            <a:r>
              <a:rPr lang="es-PE" sz="20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estand(): agregar a la lista más de 1 elemento</a:t>
            </a:r>
            <a:endParaRPr sz="20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982663" lvl="1" indent="-342900" algn="just">
              <a:buSzPts val="2000"/>
              <a:buFont typeface="Arial"/>
              <a:buChar char="-"/>
            </a:pPr>
            <a:r>
              <a:rPr lang="es-PE" sz="20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del(): borrar de la lista</a:t>
            </a:r>
            <a:endParaRPr sz="20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982663" lvl="1" indent="-342900" algn="just">
              <a:buSzPts val="2000"/>
              <a:buFont typeface="Arial"/>
              <a:buChar char="-"/>
            </a:pPr>
            <a:r>
              <a:rPr lang="es-PE" sz="20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sort(): ordenar según criterio </a:t>
            </a:r>
            <a:endParaRPr sz="20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982663" lvl="1" indent="-342900" algn="just">
              <a:buSzPts val="2000"/>
              <a:buFont typeface="Arial"/>
              <a:buChar char="-"/>
            </a:pPr>
            <a:r>
              <a:rPr lang="es-PE" sz="20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Acceso por índice:</a:t>
            </a:r>
            <a:endParaRPr sz="20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371600" lvl="3" indent="0" algn="just">
              <a:buSzPts val="1600"/>
              <a:buNone/>
            </a:pPr>
            <a:r>
              <a:rPr lang="es-PE" sz="20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a_list[0] = 1</a:t>
            </a:r>
            <a:endParaRPr sz="20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371600" lvl="3" indent="0" algn="just">
              <a:buSzPts val="1600"/>
              <a:buNone/>
            </a:pPr>
            <a:r>
              <a:rPr lang="es-PE" sz="20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a_list[3] = “a dog”</a:t>
            </a:r>
            <a:endParaRPr sz="20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203200" algn="just">
              <a:buSzPts val="2200"/>
            </a:pPr>
            <a:endParaRPr sz="2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SzPts val="1320"/>
            </a:pPr>
            <a:endParaRPr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72" name="Google Shape;17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6866" y="2312691"/>
            <a:ext cx="2541984" cy="640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533400" indent="-533400"/>
            <a:r>
              <a:rPr lang="es-PE" sz="4400" dirty="0">
                <a:solidFill>
                  <a:srgbClr val="004C6F"/>
                </a:solidFill>
                <a:ea typeface="Calibri Light" panose="020F0302020204030204" pitchFamily="34" charset="0"/>
              </a:rPr>
              <a:t>5. </a:t>
            </a:r>
            <a:r>
              <a:rPr lang="es-PE" sz="4400" dirty="0" smtClean="0">
                <a:solidFill>
                  <a:srgbClr val="004C6F"/>
                </a:solidFill>
                <a:ea typeface="Calibri Light" panose="020F0302020204030204" pitchFamily="34" charset="0"/>
              </a:rPr>
              <a:t>LENGUAJE</a:t>
            </a:r>
            <a:r>
              <a:rPr lang="es-PE" sz="4400" dirty="0">
                <a:solidFill>
                  <a:srgbClr val="004C6F"/>
                </a:solidFill>
                <a:ea typeface="Calibri Light" panose="020F0302020204030204" pitchFamily="34" charset="0"/>
              </a:rPr>
              <a:t/>
            </a:r>
            <a:br>
              <a:rPr lang="es-PE" sz="4400" dirty="0">
                <a:solidFill>
                  <a:srgbClr val="004C6F"/>
                </a:solidFill>
                <a:ea typeface="Calibri Light" panose="020F0302020204030204" pitchFamily="34" charset="0"/>
              </a:rPr>
            </a:br>
            <a:r>
              <a:rPr lang="es-PE" sz="3200" dirty="0">
                <a:solidFill>
                  <a:srgbClr val="004C6F"/>
                </a:solidFill>
                <a:ea typeface="Calibri Light" panose="020F0302020204030204" pitchFamily="34" charset="0"/>
              </a:rPr>
              <a:t>- Control de flujo -</a:t>
            </a:r>
            <a:endParaRPr sz="3200" dirty="0">
              <a:solidFill>
                <a:srgbClr val="004C6F"/>
              </a:solidFill>
              <a:ea typeface="Calibri Light" panose="020F0302020204030204" pitchFamily="34" charset="0"/>
            </a:endParaRPr>
          </a:p>
        </p:txBody>
      </p:sp>
      <p:pic>
        <p:nvPicPr>
          <p:cNvPr id="178" name="Google Shape;17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0826" y="2664250"/>
            <a:ext cx="3631875" cy="243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3975" y="2664250"/>
            <a:ext cx="4267150" cy="243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6"/>
          <p:cNvSpPr txBox="1"/>
          <p:nvPr/>
        </p:nvSpPr>
        <p:spPr>
          <a:xfrm>
            <a:off x="2955313" y="2040550"/>
            <a:ext cx="16029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s-PE" sz="2000" b="1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IF / ELSE</a:t>
            </a:r>
            <a:endParaRPr sz="2000" b="1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7602613" y="2040550"/>
            <a:ext cx="16029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s-PE" sz="2000" b="1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 LOOP</a:t>
            </a:r>
            <a:endParaRPr sz="2000" b="1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533400" indent="-533400"/>
            <a:r>
              <a:rPr lang="es-PE" sz="4400" dirty="0" smtClean="0">
                <a:solidFill>
                  <a:srgbClr val="004C6F"/>
                </a:solidFill>
                <a:ea typeface="Calibri Light" panose="020F0302020204030204" pitchFamily="34" charset="0"/>
              </a:rPr>
              <a:t>5. LENGUAJE</a:t>
            </a:r>
            <a:r>
              <a:rPr lang="es-PE" sz="4400" dirty="0">
                <a:solidFill>
                  <a:srgbClr val="004C6F"/>
                </a:solidFill>
                <a:ea typeface="Calibri Light" panose="020F0302020204030204" pitchFamily="34" charset="0"/>
              </a:rPr>
              <a:t/>
            </a:r>
            <a:br>
              <a:rPr lang="es-PE" sz="4400" dirty="0">
                <a:solidFill>
                  <a:srgbClr val="004C6F"/>
                </a:solidFill>
                <a:ea typeface="Calibri Light" panose="020F0302020204030204" pitchFamily="34" charset="0"/>
              </a:rPr>
            </a:br>
            <a:r>
              <a:rPr lang="es-PE" sz="3200" dirty="0">
                <a:solidFill>
                  <a:srgbClr val="004C6F"/>
                </a:solidFill>
                <a:ea typeface="Calibri Light" panose="020F0302020204030204" pitchFamily="34" charset="0"/>
              </a:rPr>
              <a:t>- Funciones -</a:t>
            </a:r>
            <a:endParaRPr sz="3200" dirty="0">
              <a:solidFill>
                <a:srgbClr val="004C6F"/>
              </a:solidFill>
              <a:ea typeface="Calibri Light" panose="020F0302020204030204" pitchFamily="34" charset="0"/>
            </a:endParaRPr>
          </a:p>
        </p:txBody>
      </p:sp>
      <p:sp>
        <p:nvSpPr>
          <p:cNvPr id="187" name="Google Shape;187;p2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342900" indent="-342900" algn="just">
              <a:spcBef>
                <a:spcPts val="0"/>
              </a:spcBef>
              <a:buSzPts val="2200"/>
              <a:buFont typeface="Arial"/>
              <a:buChar char="•"/>
            </a:pPr>
            <a:r>
              <a:rPr lang="es-PE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Encapsular porciones de código con resultados retornados.</a:t>
            </a:r>
            <a:endParaRPr sz="2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88" name="Google Shape;18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0600" y="2627343"/>
            <a:ext cx="3210800" cy="2747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533400" indent="-533400"/>
            <a:r>
              <a:rPr lang="es-PE" sz="4400" dirty="0" smtClean="0">
                <a:solidFill>
                  <a:srgbClr val="004C6F"/>
                </a:solidFill>
                <a:ea typeface="Calibri Light" panose="020F0302020204030204" pitchFamily="34" charset="0"/>
              </a:rPr>
              <a:t>5. LENGUAJE</a:t>
            </a:r>
            <a:r>
              <a:rPr lang="es-PE" sz="4400" dirty="0">
                <a:solidFill>
                  <a:srgbClr val="004C6F"/>
                </a:solidFill>
                <a:ea typeface="Calibri Light" panose="020F0302020204030204" pitchFamily="34" charset="0"/>
              </a:rPr>
              <a:t/>
            </a:r>
            <a:br>
              <a:rPr lang="es-PE" sz="4400" dirty="0">
                <a:solidFill>
                  <a:srgbClr val="004C6F"/>
                </a:solidFill>
                <a:ea typeface="Calibri Light" panose="020F0302020204030204" pitchFamily="34" charset="0"/>
              </a:rPr>
            </a:br>
            <a:r>
              <a:rPr lang="es-PE" sz="3200" dirty="0">
                <a:solidFill>
                  <a:srgbClr val="004C6F"/>
                </a:solidFill>
                <a:ea typeface="Calibri Light" panose="020F0302020204030204" pitchFamily="34" charset="0"/>
              </a:rPr>
              <a:t>- Librerías -</a:t>
            </a:r>
            <a:endParaRPr sz="3200" dirty="0">
              <a:solidFill>
                <a:srgbClr val="004C6F"/>
              </a:solidFill>
              <a:ea typeface="Calibri Light" panose="020F0302020204030204" pitchFamily="34" charset="0"/>
            </a:endParaRPr>
          </a:p>
        </p:txBody>
      </p:sp>
      <p:sp>
        <p:nvSpPr>
          <p:cNvPr id="194" name="Google Shape;194;p2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2200"/>
              <a:buFont typeface="Arial"/>
              <a:buChar char="•"/>
            </a:pPr>
            <a:r>
              <a:rPr lang="es-PE" sz="2400" dirty="0">
                <a:solidFill>
                  <a:srgbClr val="004C6F"/>
                </a:solidFill>
                <a:ea typeface="Calibri Light" panose="020F0302020204030204" pitchFamily="34" charset="0"/>
              </a:rPr>
              <a:t>Puede importarse librerías para aumentar la funcionalidad.</a:t>
            </a:r>
            <a:endParaRPr sz="2400" dirty="0">
              <a:solidFill>
                <a:srgbClr val="004C6F"/>
              </a:solidFill>
              <a:ea typeface="Calibri Light" panose="020F0302020204030204" pitchFamily="34" charset="0"/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2942506" y="2515445"/>
            <a:ext cx="4223164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PE" sz="1800" b="1" dirty="0">
                <a:solidFill>
                  <a:srgbClr val="004C6F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pip install &lt;package&gt;</a:t>
            </a:r>
            <a:endParaRPr sz="1800" b="1" dirty="0">
              <a:solidFill>
                <a:srgbClr val="004C6F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s-PE" sz="1800" b="1" dirty="0">
                <a:solidFill>
                  <a:srgbClr val="004C6F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import &lt;librería&gt;</a:t>
            </a:r>
            <a:endParaRPr sz="1800" b="1" dirty="0">
              <a:solidFill>
                <a:srgbClr val="004C6F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96" name="Google Shape;196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3632" y="3369568"/>
            <a:ext cx="2412100" cy="129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36421" y="3367445"/>
            <a:ext cx="2638425" cy="10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91297" y="5096551"/>
            <a:ext cx="2996775" cy="718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2656" y="4876355"/>
            <a:ext cx="3385776" cy="100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pt-BR" sz="44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LABORATORIO Nº 1: FUNDAMENTOS DE PYTHON</a:t>
            </a:r>
            <a:endParaRPr lang="pt-BR" sz="4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5" name="Google Shape;205;p29"/>
          <p:cNvSpPr txBox="1"/>
          <p:nvPr/>
        </p:nvSpPr>
        <p:spPr>
          <a:xfrm>
            <a:off x="838200" y="1825625"/>
            <a:ext cx="10515600" cy="337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lvl="0" algn="just">
              <a:buSzPts val="1320"/>
            </a:pPr>
            <a:r>
              <a:rPr lang="es-PE" sz="2800" dirty="0" smtClean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Al </a:t>
            </a:r>
            <a:r>
              <a:rPr lang="es-PE" sz="28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finalizar el laboratorio, el alumno logrará:</a:t>
            </a:r>
          </a:p>
          <a:p>
            <a:pPr algn="just">
              <a:spcBef>
                <a:spcPts val="700"/>
              </a:spcBef>
              <a:buSzPts val="1320"/>
            </a:pPr>
            <a:endParaRPr lang="es-PE" sz="28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 algn="just">
              <a:spcBef>
                <a:spcPts val="700"/>
              </a:spcBef>
              <a:buClr>
                <a:srgbClr val="004C6F"/>
              </a:buClr>
              <a:buSzPct val="100000"/>
              <a:buFont typeface="Arial"/>
              <a:buChar char="•"/>
            </a:pPr>
            <a:r>
              <a:rPr lang="es-PE" sz="28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Ejecutar código de Python en un Notebook Jupyter.</a:t>
            </a:r>
          </a:p>
          <a:p>
            <a:pPr marL="342900" indent="-342900" algn="just">
              <a:spcBef>
                <a:spcPts val="700"/>
              </a:spcBef>
              <a:buClr>
                <a:srgbClr val="004C6F"/>
              </a:buClr>
              <a:buSzPct val="100000"/>
              <a:buFont typeface="Arial"/>
              <a:buChar char="•"/>
            </a:pPr>
            <a:r>
              <a:rPr lang="es-PE" sz="28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Profundizar en Python.</a:t>
            </a:r>
          </a:p>
          <a:p>
            <a:pPr marL="342900" indent="-342900" algn="just">
              <a:spcBef>
                <a:spcPts val="700"/>
              </a:spcBef>
              <a:buClr>
                <a:srgbClr val="DA1F28"/>
              </a:buClr>
              <a:buSzPts val="1320"/>
              <a:buFont typeface="Arial"/>
              <a:buChar char="•"/>
            </a:pPr>
            <a:endParaRPr sz="2800" dirty="0">
              <a:solidFill>
                <a:srgbClr val="004C6F"/>
              </a:solidFill>
              <a:highlight>
                <a:srgbClr val="FFFF00"/>
              </a:highlight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pt-BR" sz="4400" dirty="0" smtClean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TAREA Nº 1:  FUNDAMENTOS DE PYTHON </a:t>
            </a:r>
            <a:endParaRPr lang="pt-BR" sz="4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3" name="Google Shape;223;p32"/>
          <p:cNvSpPr txBox="1"/>
          <p:nvPr/>
        </p:nvSpPr>
        <p:spPr>
          <a:xfrm>
            <a:off x="838200" y="1825625"/>
            <a:ext cx="10515600" cy="4123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342900" indent="-342900" algn="just">
              <a:spcBef>
                <a:spcPts val="700"/>
              </a:spcBef>
              <a:buClr>
                <a:srgbClr val="004C6F"/>
              </a:buClr>
              <a:buSzPct val="100000"/>
              <a:buFont typeface="Arial"/>
              <a:buChar char="•"/>
            </a:pPr>
            <a:r>
              <a:rPr lang="es-PE" sz="2800" dirty="0" smtClean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Resolver </a:t>
            </a:r>
            <a:r>
              <a:rPr lang="es-PE" sz="28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los ejercicios en el Notebook Jupyter compartido.</a:t>
            </a:r>
            <a:endParaRPr sz="28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 algn="just">
              <a:spcBef>
                <a:spcPts val="700"/>
              </a:spcBef>
              <a:buClr>
                <a:srgbClr val="004C6F"/>
              </a:buClr>
              <a:buSzPct val="100000"/>
              <a:buFont typeface="Arial"/>
              <a:buChar char="•"/>
            </a:pPr>
            <a:r>
              <a:rPr lang="es-PE" sz="28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Enviar por </a:t>
            </a:r>
            <a:r>
              <a:rPr lang="es-PE" sz="2800" b="1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Notebook Jupyter </a:t>
            </a:r>
            <a:r>
              <a:rPr lang="es-PE" sz="2800" dirty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al correo del instructor.</a:t>
            </a:r>
            <a:endParaRPr sz="28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>
              <a:spcBef>
                <a:spcPts val="700"/>
              </a:spcBef>
              <a:buClr>
                <a:srgbClr val="004C6F"/>
              </a:buClr>
              <a:buSzPct val="100000"/>
            </a:pPr>
            <a:endParaRPr sz="2800" dirty="0">
              <a:solidFill>
                <a:srgbClr val="004C6F"/>
              </a:solidFill>
              <a:highlight>
                <a:srgbClr val="FFFF00"/>
              </a:highlight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RESUMEN</a:t>
            </a:r>
            <a:endParaRPr lang="es-PE" sz="4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7" name="Google Shape;217;p3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indent="0" algn="just">
              <a:spcBef>
                <a:spcPts val="0"/>
              </a:spcBef>
              <a:buSzPts val="1320"/>
              <a:buNone/>
            </a:pPr>
            <a:r>
              <a:rPr lang="es-PE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 este capítulo, usted aprendió: </a:t>
            </a:r>
            <a:endParaRPr sz="2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 algn="just">
              <a:buSzPts val="1320"/>
            </a:pPr>
            <a:endParaRPr sz="2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200"/>
              <a:buFont typeface="Arial"/>
              <a:buChar char="•"/>
            </a:pPr>
            <a:r>
              <a:rPr lang="es-PE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Python parece en la superficie un lenguaje limitado, pero tiene una variedad de usos entre los que están la ciencia de datos.</a:t>
            </a:r>
            <a:endParaRPr sz="2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200"/>
              <a:buFont typeface="Arial"/>
              <a:buChar char="•"/>
            </a:pPr>
            <a:r>
              <a:rPr lang="es-PE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Jupyter es un entorno innovador que permite la ejecución de Python de manera interactiva y, a su vez, redacta párrafos promoviendo la investigación.</a:t>
            </a:r>
            <a:endParaRPr sz="2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0DE29-1600-B788-C3C0-213FF1448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dirty="0" smtClean="0">
                <a:solidFill>
                  <a:srgbClr val="004C6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BIBLIOGRAFÍA</a:t>
            </a:r>
            <a:endParaRPr lang="es-PE" sz="4400" dirty="0">
              <a:solidFill>
                <a:srgbClr val="004C6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Marcador de contenido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61950" lvl="0" indent="-361950">
              <a:spcBef>
                <a:spcPts val="0"/>
              </a:spcBef>
            </a:pPr>
            <a:r>
              <a:rPr lang="en-US" sz="2800" dirty="0"/>
              <a:t>Python. Python for beginners.</a:t>
            </a:r>
            <a:endParaRPr lang="es-PE" sz="2800" dirty="0"/>
          </a:p>
          <a:p>
            <a:pPr marL="361950" indent="0">
              <a:spcBef>
                <a:spcPts val="0"/>
              </a:spcBef>
              <a:buNone/>
            </a:pPr>
            <a:r>
              <a:rPr lang="en-US" sz="2800" u="sng" dirty="0">
                <a:hlinkClick r:id="rId2"/>
              </a:rPr>
              <a:t>https://www.python.org/doc/</a:t>
            </a:r>
            <a:endParaRPr lang="es-PE" sz="2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/>
              <a:t> </a:t>
            </a:r>
            <a:endParaRPr lang="es-PE" sz="2800" dirty="0"/>
          </a:p>
          <a:p>
            <a:pPr marL="361950" lvl="0" indent="-361950">
              <a:spcBef>
                <a:spcPts val="0"/>
              </a:spcBef>
            </a:pPr>
            <a:r>
              <a:rPr lang="en-US" sz="2800" dirty="0" err="1"/>
              <a:t>Scikit</a:t>
            </a:r>
            <a:r>
              <a:rPr lang="en-US" sz="2800" dirty="0"/>
              <a:t>-learn. </a:t>
            </a:r>
            <a:r>
              <a:rPr lang="es-PE" sz="2800" dirty="0"/>
              <a:t>Biblioteca de aprendizaje automático.</a:t>
            </a:r>
          </a:p>
          <a:p>
            <a:pPr marL="361950" indent="0">
              <a:spcBef>
                <a:spcPts val="0"/>
              </a:spcBef>
              <a:buNone/>
            </a:pPr>
            <a:r>
              <a:rPr lang="en-US" sz="2800" u="sng" dirty="0">
                <a:hlinkClick r:id="rId3"/>
              </a:rPr>
              <a:t>https://scikit-learn.org/stable/</a:t>
            </a:r>
            <a:endParaRPr lang="es-PE" sz="2800" u="sng" dirty="0"/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/>
              <a:t> </a:t>
            </a:r>
            <a:endParaRPr lang="es-PE" sz="2800" dirty="0"/>
          </a:p>
          <a:p>
            <a:pPr marL="361950" lvl="0" indent="-361950">
              <a:spcBef>
                <a:spcPts val="0"/>
              </a:spcBef>
            </a:pPr>
            <a:r>
              <a:rPr lang="en-US" sz="2800" dirty="0" err="1"/>
              <a:t>TensorFlow</a:t>
            </a:r>
            <a:r>
              <a:rPr lang="en-US" sz="2800" dirty="0"/>
              <a:t>. </a:t>
            </a:r>
            <a:r>
              <a:rPr lang="es-ES" sz="2800" dirty="0"/>
              <a:t>Crea modelos de aprendizaje automático.</a:t>
            </a:r>
            <a:endParaRPr lang="es-PE" sz="2800" dirty="0"/>
          </a:p>
          <a:p>
            <a:pPr marL="361950" indent="0">
              <a:spcBef>
                <a:spcPts val="0"/>
              </a:spcBef>
              <a:buNone/>
            </a:pPr>
            <a:r>
              <a:rPr lang="en-US" sz="2800" u="sng" dirty="0">
                <a:hlinkClick r:id="rId4"/>
              </a:rPr>
              <a:t>https://www.tensorflow.org/?hl=es-419</a:t>
            </a:r>
            <a:endParaRPr lang="es-PE" sz="2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/>
              <a:t> </a:t>
            </a:r>
            <a:endParaRPr lang="es-PE" sz="2800" dirty="0"/>
          </a:p>
          <a:p>
            <a:pPr marL="361950" lvl="0" indent="-361950">
              <a:spcBef>
                <a:spcPts val="0"/>
              </a:spcBef>
            </a:pPr>
            <a:r>
              <a:rPr lang="en-US" sz="2800" dirty="0" err="1"/>
              <a:t>Kaggle</a:t>
            </a:r>
            <a:r>
              <a:rPr lang="en-US" sz="2800" dirty="0"/>
              <a:t>. </a:t>
            </a:r>
            <a:r>
              <a:rPr lang="es-PE" sz="2800" dirty="0"/>
              <a:t>Comunidad de científicos de datos del aprendizaje automático.</a:t>
            </a:r>
          </a:p>
          <a:p>
            <a:pPr marL="361950" indent="0">
              <a:spcBef>
                <a:spcPts val="0"/>
              </a:spcBef>
              <a:buNone/>
            </a:pPr>
            <a:r>
              <a:rPr lang="en-US" sz="2800" u="sng" dirty="0">
                <a:hlinkClick r:id="rId5"/>
              </a:rPr>
              <a:t>https://www.kaggle.com/</a:t>
            </a:r>
            <a:endParaRPr lang="es-PE" sz="2800" dirty="0"/>
          </a:p>
          <a:p>
            <a:pPr>
              <a:spcBef>
                <a:spcPts val="0"/>
              </a:spcBef>
            </a:pP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2567247820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6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4227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 2013 - 2022">
  <a:themeElements>
    <a:clrScheme name="Personalizado 3">
      <a:dk1>
        <a:srgbClr val="FFFFFF"/>
      </a:dk1>
      <a:lt1>
        <a:sysClr val="window" lastClr="FFFFFF"/>
      </a:lt1>
      <a:dk2>
        <a:srgbClr val="FFFFF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 1" id="{25EF5B35-096C-4E19-ADCD-2D056F9D59B8}" vid="{98B33A97-DED6-4182-95CB-4258EFB13353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3dbc0e-7426-4e5e-a01a-d751dc3a484e">
      <Terms xmlns="http://schemas.microsoft.com/office/infopath/2007/PartnerControls"/>
    </lcf76f155ced4ddcb4097134ff3c332f>
    <MigrationWizIdPermissions xmlns="c53dbc0e-7426-4e5e-a01a-d751dc3a484e" xsi:nil="true"/>
    <MigrationWizIdSecurityGroups xmlns="c53dbc0e-7426-4e5e-a01a-d751dc3a484e" xsi:nil="true"/>
    <MigrationWizIdPermissionLevels xmlns="c53dbc0e-7426-4e5e-a01a-d751dc3a484e" xsi:nil="true"/>
    <MigrationWizId xmlns="c53dbc0e-7426-4e5e-a01a-d751dc3a484e" xsi:nil="true"/>
    <MigrationWizIdDocumentLibraryPermissions xmlns="c53dbc0e-7426-4e5e-a01a-d751dc3a484e" xsi:nil="true"/>
    <TaxCatchAll xmlns="e1b596fd-51a2-4813-b2ec-65f50de87ff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4CA7FD359AA2944A41476ECA6512FDD" ma:contentTypeVersion="19" ma:contentTypeDescription="Crear nuevo documento." ma:contentTypeScope="" ma:versionID="a1d8a79bac2fa85a34d896afb5ff6b69">
  <xsd:schema xmlns:xsd="http://www.w3.org/2001/XMLSchema" xmlns:xs="http://www.w3.org/2001/XMLSchema" xmlns:p="http://schemas.microsoft.com/office/2006/metadata/properties" xmlns:ns2="c53dbc0e-7426-4e5e-a01a-d751dc3a484e" xmlns:ns3="e1b596fd-51a2-4813-b2ec-65f50de87ffe" targetNamespace="http://schemas.microsoft.com/office/2006/metadata/properties" ma:root="true" ma:fieldsID="1b47a73d97bba56d383154db0d28fc4d" ns2:_="" ns3:_="">
    <xsd:import namespace="c53dbc0e-7426-4e5e-a01a-d751dc3a484e"/>
    <xsd:import namespace="e1b596fd-51a2-4813-b2ec-65f50de87ffe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PermissionLevels" minOccurs="0"/>
                <xsd:element ref="ns2:MigrationWizIdDocumentLibraryPermissions" minOccurs="0"/>
                <xsd:element ref="ns2:MigrationWizIdSecurityGroup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3dbc0e-7426-4e5e-a01a-d751dc3a484e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PermissionLevels" ma:index="10" nillable="true" ma:displayName="MigrationWizIdPermissionLevels" ma:internalName="MigrationWizIdPermissionLevels">
      <xsd:simpleType>
        <xsd:restriction base="dms:Text"/>
      </xsd:simpleType>
    </xsd:element>
    <xsd:element name="MigrationWizIdDocumentLibraryPermissions" ma:index="11" nillable="true" ma:displayName="MigrationWizIdDocumentLibraryPermissions" ma:internalName="MigrationWizIdDocumentLibraryPermissions">
      <xsd:simpleType>
        <xsd:restriction base="dms:Text"/>
      </xsd:simpleType>
    </xsd:element>
    <xsd:element name="MigrationWizIdSecurityGroups" ma:index="12" nillable="true" ma:displayName="MigrationWizIdSecurityGroups" ma:internalName="MigrationWizIdSecurityGroups">
      <xsd:simpleType>
        <xsd:restriction base="dms:Text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76a0f718-64e7-4125-a6af-7a61992d9c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4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96fd-51a2-4813-b2ec-65f50de87ffe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d732825b-4d0f-44b0-936b-0d1b15772657}" ma:internalName="TaxCatchAll" ma:showField="CatchAllData" ma:web="e1b596fd-51a2-4813-b2ec-65f50de87f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B1CD5D-F6A0-4340-A4F6-AA5E7BA745C2}">
  <ds:schemaRefs>
    <ds:schemaRef ds:uri="http://schemas.microsoft.com/office/2006/metadata/properties"/>
    <ds:schemaRef ds:uri="http://schemas.microsoft.com/office/infopath/2007/PartnerControls"/>
    <ds:schemaRef ds:uri="c53dbc0e-7426-4e5e-a01a-d751dc3a484e"/>
    <ds:schemaRef ds:uri="e1b596fd-51a2-4813-b2ec-65f50de87ffe"/>
  </ds:schemaRefs>
</ds:datastoreItem>
</file>

<file path=customXml/itemProps2.xml><?xml version="1.0" encoding="utf-8"?>
<ds:datastoreItem xmlns:ds="http://schemas.openxmlformats.org/officeDocument/2006/customXml" ds:itemID="{4CCB6562-4DEF-442A-AE52-3EB969720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9310B9-1B6F-43F2-8E05-4F4439EDAF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3dbc0e-7426-4e5e-a01a-d751dc3a484e"/>
    <ds:schemaRef ds:uri="e1b596fd-51a2-4813-b2ec-65f50de87f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</TotalTime>
  <Words>639</Words>
  <Application>Microsoft Office PowerPoint</Application>
  <PresentationFormat>Panorámica</PresentationFormat>
  <Paragraphs>109</Paragraphs>
  <Slides>19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Tema de Office 2013 - 2022</vt:lpstr>
      <vt:lpstr>Presentación de PowerPoint</vt:lpstr>
      <vt:lpstr>OBJETIVOS</vt:lpstr>
      <vt:lpstr>AGENDA</vt:lpstr>
      <vt:lpstr>1. PYTHON</vt:lpstr>
      <vt:lpstr>2. EL ZEN DE PYTHON</vt:lpstr>
      <vt:lpstr>2. EL ZEN DE PYTHON</vt:lpstr>
      <vt:lpstr>3. USOS DE PYTHON</vt:lpstr>
      <vt:lpstr>4. ¿QUIÉNES USAN PYTHON?</vt:lpstr>
      <vt:lpstr>5. LENGUAJE - Indentación -</vt:lpstr>
      <vt:lpstr>5. LENGUAJE - Tipos de datos y operadores -</vt:lpstr>
      <vt:lpstr>5. LENGUAJE - Colecciones de datos -</vt:lpstr>
      <vt:lpstr>5. LENGUAJE - Control de flujo -</vt:lpstr>
      <vt:lpstr>5. LENGUAJE - Funciones -</vt:lpstr>
      <vt:lpstr>5. LENGUAJE - Librerías -</vt:lpstr>
      <vt:lpstr>LABORATORIO Nº 1: FUNDAMENTOS DE PYTHON</vt:lpstr>
      <vt:lpstr>TAREA Nº 1:  FUNDAMENTOS DE PYTHON </vt:lpstr>
      <vt:lpstr>RESUMEN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Python</dc:title>
  <cp:lastModifiedBy>Elizabeth Bustamante Echevarria</cp:lastModifiedBy>
  <cp:revision>10</cp:revision>
  <dcterms:modified xsi:type="dcterms:W3CDTF">2023-05-08T18:11:15Z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0x010100C4CA7FD359AA2944A41476ECA6512FDD</vt:lpwstr>
  </property>
</Properties>
</file>