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omments/modernComment_108_0.xml" ContentType="application/vnd.ms-powerpoint.comment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8" r:id="rId4"/>
  </p:sldMasterIdLst>
  <p:notesMasterIdLst>
    <p:notesMasterId r:id="rId31"/>
  </p:notesMasterIdLst>
  <p:sldIdLst>
    <p:sldId id="256" r:id="rId5"/>
    <p:sldId id="257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81" r:id="rId27"/>
    <p:sldId id="280" r:id="rId28"/>
    <p:sldId id="282" r:id="rId29"/>
    <p:sldId id="442" r:id="rId30"/>
  </p:sldIdLst>
  <p:sldSz cx="12192000" cy="6858000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045AAB-121C-9002-AB65-CDEE1062A27A}" name="Ana Tello Cuellar" initials="ATC" userId="S::ana.tello@cibertec.pe::e58820f6-43f9-4762-bcc3-11a60662360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5C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2"/>
    <p:restoredTop sz="94694"/>
  </p:normalViewPr>
  <p:slideViewPr>
    <p:cSldViewPr snapToGrid="0">
      <p:cViewPr varScale="1">
        <p:scale>
          <a:sx n="50" d="100"/>
          <a:sy n="50" d="100"/>
        </p:scale>
        <p:origin x="66" y="5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omments/modernComment_108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33653E4-105B-41D9-95B4-16DEDB01F685}" authorId="{85045AAB-121C-9002-AB65-CDEE1062A27A}" created="2023-02-13T17:02:24.29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4"/>
      <ac:picMk id="222" creationId="{00000000-0000-0000-0000-000000000000}"/>
    </ac:deMkLst>
    <p188:txBody>
      <a:bodyPr/>
      <a:lstStyle/>
      <a:p>
        <a:r>
          <a:rPr lang="es-PE"/>
          <a:t>Añadir mayor información sobre el tema.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36892F-EA17-4C69-8845-50C90A58EBC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A4A6163A-6107-4347-A75F-85E5C050B485}">
      <dgm:prSet phldrT="[Texto]" custT="1"/>
      <dgm:spPr/>
      <dgm:t>
        <a:bodyPr/>
        <a:lstStyle/>
        <a:p>
          <a:pPr>
            <a:buSzPts val="2200"/>
            <a:buFont typeface="Arial"/>
            <a:buChar char="•"/>
          </a:pPr>
          <a:r>
            <a:rPr lang="es-PE" sz="2400" dirty="0">
              <a:latin typeface="Calibri Light" panose="020F0302020204030204" pitchFamily="34" charset="0"/>
              <a:cs typeface="Calibri Light" panose="020F0302020204030204" pitchFamily="34" charset="0"/>
            </a:rPr>
            <a:t>Exploración de datos</a:t>
          </a:r>
        </a:p>
      </dgm:t>
    </dgm:pt>
    <dgm:pt modelId="{19D0583A-D3D8-4085-8CD7-0C9ACAD9591A}" type="parTrans" cxnId="{D649E5C9-805F-4709-82A9-D8BCDB8D1338}">
      <dgm:prSet/>
      <dgm:spPr/>
      <dgm:t>
        <a:bodyPr/>
        <a:lstStyle/>
        <a:p>
          <a:endParaRPr lang="es-PE" sz="24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FDEF92EF-9F19-49AB-B562-5AA04295F40C}" type="sibTrans" cxnId="{D649E5C9-805F-4709-82A9-D8BCDB8D1338}">
      <dgm:prSet/>
      <dgm:spPr/>
      <dgm:t>
        <a:bodyPr/>
        <a:lstStyle/>
        <a:p>
          <a:endParaRPr lang="es-PE" sz="24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6FB1545D-D6C5-496D-BED9-9762F101697C}">
      <dgm:prSet custT="1"/>
      <dgm:spPr/>
      <dgm:t>
        <a:bodyPr/>
        <a:lstStyle/>
        <a:p>
          <a:r>
            <a:rPr lang="es-PE" sz="2400" dirty="0">
              <a:latin typeface="Calibri Light" panose="020F0302020204030204" pitchFamily="34" charset="0"/>
              <a:cs typeface="Calibri Light" panose="020F0302020204030204" pitchFamily="34" charset="0"/>
            </a:rPr>
            <a:t>Visualización</a:t>
          </a:r>
        </a:p>
      </dgm:t>
    </dgm:pt>
    <dgm:pt modelId="{54F811C0-79CC-4FE6-9B9B-F4DFFD0CB439}" type="parTrans" cxnId="{2759EB2B-AD69-4154-8F51-D34E17E0FD10}">
      <dgm:prSet/>
      <dgm:spPr/>
      <dgm:t>
        <a:bodyPr/>
        <a:lstStyle/>
        <a:p>
          <a:endParaRPr lang="es-PE" sz="24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4E993975-D0F3-40D7-9E2E-5FD293D5EF08}" type="sibTrans" cxnId="{2759EB2B-AD69-4154-8F51-D34E17E0FD10}">
      <dgm:prSet/>
      <dgm:spPr/>
      <dgm:t>
        <a:bodyPr/>
        <a:lstStyle/>
        <a:p>
          <a:endParaRPr lang="es-PE" sz="24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6A1C596C-0BD3-4406-8E7F-CA87ABA3E2D1}">
      <dgm:prSet custT="1"/>
      <dgm:spPr/>
      <dgm:t>
        <a:bodyPr/>
        <a:lstStyle/>
        <a:p>
          <a:r>
            <a:rPr lang="es-PE" sz="2400" dirty="0">
              <a:latin typeface="Calibri Light" panose="020F0302020204030204" pitchFamily="34" charset="0"/>
              <a:cs typeface="Calibri Light" panose="020F0302020204030204" pitchFamily="34" charset="0"/>
            </a:rPr>
            <a:t>Machine learning</a:t>
          </a:r>
        </a:p>
      </dgm:t>
    </dgm:pt>
    <dgm:pt modelId="{51468724-6EA5-472B-9914-F313B4FD800D}" type="parTrans" cxnId="{BB69DDF7-557C-44CA-9C5E-3C5CD42EB98F}">
      <dgm:prSet/>
      <dgm:spPr/>
      <dgm:t>
        <a:bodyPr/>
        <a:lstStyle/>
        <a:p>
          <a:endParaRPr lang="es-PE" sz="24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8F5018F5-B560-495C-B96A-4CC568129893}" type="sibTrans" cxnId="{BB69DDF7-557C-44CA-9C5E-3C5CD42EB98F}">
      <dgm:prSet/>
      <dgm:spPr/>
      <dgm:t>
        <a:bodyPr/>
        <a:lstStyle/>
        <a:p>
          <a:endParaRPr lang="es-PE" sz="24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3200FEF0-9053-411A-9772-9BB66F824A77}">
      <dgm:prSet custT="1"/>
      <dgm:spPr/>
      <dgm:t>
        <a:bodyPr/>
        <a:lstStyle/>
        <a:p>
          <a:r>
            <a:rPr lang="es-PE" sz="2400" dirty="0">
              <a:latin typeface="Calibri Light" panose="020F0302020204030204" pitchFamily="34" charset="0"/>
              <a:cs typeface="Calibri Light" panose="020F0302020204030204" pitchFamily="34" charset="0"/>
            </a:rPr>
            <a:t>NLP</a:t>
          </a:r>
        </a:p>
      </dgm:t>
    </dgm:pt>
    <dgm:pt modelId="{A3613BDF-8ECB-43C8-B0A8-CA19C9921100}" type="parTrans" cxnId="{F111ADDD-9253-460F-A78B-762CEF1F801D}">
      <dgm:prSet/>
      <dgm:spPr/>
      <dgm:t>
        <a:bodyPr/>
        <a:lstStyle/>
        <a:p>
          <a:endParaRPr lang="es-PE" sz="24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7A7D05E4-00D4-427B-8E42-762C431337B8}" type="sibTrans" cxnId="{F111ADDD-9253-460F-A78B-762CEF1F801D}">
      <dgm:prSet/>
      <dgm:spPr/>
      <dgm:t>
        <a:bodyPr/>
        <a:lstStyle/>
        <a:p>
          <a:endParaRPr lang="es-PE" sz="24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5D25C3D3-44B1-46BB-8D4B-91B01326D0F2}">
      <dgm:prSet custT="1"/>
      <dgm:spPr/>
      <dgm:t>
        <a:bodyPr/>
        <a:lstStyle/>
        <a:p>
          <a:r>
            <a:rPr lang="es-PE" sz="2400" dirty="0">
              <a:latin typeface="Calibri Light" panose="020F0302020204030204" pitchFamily="34" charset="0"/>
              <a:cs typeface="Calibri Light" panose="020F0302020204030204" pitchFamily="34" charset="0"/>
            </a:rPr>
            <a:t>Computer Vision</a:t>
          </a:r>
        </a:p>
      </dgm:t>
    </dgm:pt>
    <dgm:pt modelId="{56A7603E-E044-4123-82DF-306417924D6D}" type="parTrans" cxnId="{C9B25123-1F50-42C6-911D-E458EAA9008A}">
      <dgm:prSet/>
      <dgm:spPr/>
      <dgm:t>
        <a:bodyPr/>
        <a:lstStyle/>
        <a:p>
          <a:endParaRPr lang="es-PE" sz="24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B55CD161-AB77-4D58-AAB2-806C8FC5F3A3}" type="sibTrans" cxnId="{C9B25123-1F50-42C6-911D-E458EAA9008A}">
      <dgm:prSet/>
      <dgm:spPr/>
      <dgm:t>
        <a:bodyPr/>
        <a:lstStyle/>
        <a:p>
          <a:endParaRPr lang="es-PE" sz="24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4620D7F5-D6FF-4736-8760-580BFB7CCBFB}">
      <dgm:prSet custT="1"/>
      <dgm:spPr/>
      <dgm:t>
        <a:bodyPr/>
        <a:lstStyle/>
        <a:p>
          <a:r>
            <a:rPr lang="es-PE" sz="2400" dirty="0">
              <a:latin typeface="Calibri Light" panose="020F0302020204030204" pitchFamily="34" charset="0"/>
              <a:cs typeface="Calibri Light" panose="020F0302020204030204" pitchFamily="34" charset="0"/>
            </a:rPr>
            <a:t>Deep learning</a:t>
          </a:r>
        </a:p>
      </dgm:t>
    </dgm:pt>
    <dgm:pt modelId="{EDBF00F1-9AE1-44C8-A99C-50BE2353B3BC}" type="parTrans" cxnId="{D47F338A-5A73-4F06-9091-B224B9A99280}">
      <dgm:prSet/>
      <dgm:spPr/>
      <dgm:t>
        <a:bodyPr/>
        <a:lstStyle/>
        <a:p>
          <a:endParaRPr lang="es-PE" sz="24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677D4F98-BCA4-4AA0-998A-73905BCC9F77}" type="sibTrans" cxnId="{D47F338A-5A73-4F06-9091-B224B9A99280}">
      <dgm:prSet/>
      <dgm:spPr/>
      <dgm:t>
        <a:bodyPr/>
        <a:lstStyle/>
        <a:p>
          <a:endParaRPr lang="es-PE" sz="24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BEC5125E-BD45-4067-81F2-351937327F00}">
      <dgm:prSet custT="1"/>
      <dgm:spPr/>
      <dgm:t>
        <a:bodyPr/>
        <a:lstStyle/>
        <a:p>
          <a:r>
            <a:rPr lang="es-PE" sz="2400" dirty="0">
              <a:latin typeface="Calibri Light" panose="020F0302020204030204" pitchFamily="34" charset="0"/>
              <a:cs typeface="Calibri Light" panose="020F0302020204030204" pitchFamily="34" charset="0"/>
            </a:rPr>
            <a:t>Big data</a:t>
          </a:r>
        </a:p>
      </dgm:t>
    </dgm:pt>
    <dgm:pt modelId="{49F9F87D-7295-4972-9B9F-780E8CD90AE1}" type="parTrans" cxnId="{F72BE79A-DBB6-4416-A89B-FE155017C700}">
      <dgm:prSet/>
      <dgm:spPr/>
      <dgm:t>
        <a:bodyPr/>
        <a:lstStyle/>
        <a:p>
          <a:endParaRPr lang="es-PE" sz="24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7BB04F49-998D-4B46-A606-035605BCE474}" type="sibTrans" cxnId="{F72BE79A-DBB6-4416-A89B-FE155017C700}">
      <dgm:prSet/>
      <dgm:spPr/>
      <dgm:t>
        <a:bodyPr/>
        <a:lstStyle/>
        <a:p>
          <a:endParaRPr lang="es-PE" sz="24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F104A89C-3809-445D-B696-B8DC3ABAFD4B}" type="pres">
      <dgm:prSet presAssocID="{D536892F-EA17-4C69-8845-50C90A58EBC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3372DCA-366B-4F6C-99E4-CEF37A6F2D2F}" type="pres">
      <dgm:prSet presAssocID="{A4A6163A-6107-4347-A75F-85E5C050B485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BC3C2C19-7941-4B1B-B635-DBB3599F7E1B}" type="pres">
      <dgm:prSet presAssocID="{FDEF92EF-9F19-49AB-B562-5AA04295F40C}" presName="sibTrans" presStyleCnt="0"/>
      <dgm:spPr/>
    </dgm:pt>
    <dgm:pt modelId="{DF1C3903-2663-4A4A-9383-096CCC48FD0B}" type="pres">
      <dgm:prSet presAssocID="{6FB1545D-D6C5-496D-BED9-9762F101697C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DB2FD02-5FDD-4986-AA7C-0E61C52CB2AB}" type="pres">
      <dgm:prSet presAssocID="{4E993975-D0F3-40D7-9E2E-5FD293D5EF08}" presName="sibTrans" presStyleCnt="0"/>
      <dgm:spPr/>
    </dgm:pt>
    <dgm:pt modelId="{10192CF3-653C-4913-8223-75355F20B756}" type="pres">
      <dgm:prSet presAssocID="{6A1C596C-0BD3-4406-8E7F-CA87ABA3E2D1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F29422B-166A-471C-8400-DAC97BFF672D}" type="pres">
      <dgm:prSet presAssocID="{8F5018F5-B560-495C-B96A-4CC568129893}" presName="sibTrans" presStyleCnt="0"/>
      <dgm:spPr/>
    </dgm:pt>
    <dgm:pt modelId="{5F43072D-661C-4D7A-BA1F-CA4079D03D95}" type="pres">
      <dgm:prSet presAssocID="{3200FEF0-9053-411A-9772-9BB66F824A77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3BFB1B4-ABF7-4453-B8C3-F1C801C39347}" type="pres">
      <dgm:prSet presAssocID="{7A7D05E4-00D4-427B-8E42-762C431337B8}" presName="sibTrans" presStyleCnt="0"/>
      <dgm:spPr/>
    </dgm:pt>
    <dgm:pt modelId="{13CFE3A3-88D2-4BFF-A356-BE52DB7B5655}" type="pres">
      <dgm:prSet presAssocID="{5D25C3D3-44B1-46BB-8D4B-91B01326D0F2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F8C72901-3818-437C-80FF-47A947A37423}" type="pres">
      <dgm:prSet presAssocID="{B55CD161-AB77-4D58-AAB2-806C8FC5F3A3}" presName="sibTrans" presStyleCnt="0"/>
      <dgm:spPr/>
    </dgm:pt>
    <dgm:pt modelId="{6796905E-B20D-4A71-AC5E-1C252FF1A6C1}" type="pres">
      <dgm:prSet presAssocID="{4620D7F5-D6FF-4736-8760-580BFB7CCBFB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660EF07-C6AE-41F3-8B91-40CAB88D3251}" type="pres">
      <dgm:prSet presAssocID="{677D4F98-BCA4-4AA0-998A-73905BCC9F77}" presName="sibTrans" presStyleCnt="0"/>
      <dgm:spPr/>
    </dgm:pt>
    <dgm:pt modelId="{026311D1-9FF3-4947-8819-D705CAF8C066}" type="pres">
      <dgm:prSet presAssocID="{BEC5125E-BD45-4067-81F2-351937327F00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649E5C9-805F-4709-82A9-D8BCDB8D1338}" srcId="{D536892F-EA17-4C69-8845-50C90A58EBC8}" destId="{A4A6163A-6107-4347-A75F-85E5C050B485}" srcOrd="0" destOrd="0" parTransId="{19D0583A-D3D8-4085-8CD7-0C9ACAD9591A}" sibTransId="{FDEF92EF-9F19-49AB-B562-5AA04295F40C}"/>
    <dgm:cxn modelId="{E1634EE5-CA17-4E13-873A-ED32AA1A7267}" type="presOf" srcId="{4620D7F5-D6FF-4736-8760-580BFB7CCBFB}" destId="{6796905E-B20D-4A71-AC5E-1C252FF1A6C1}" srcOrd="0" destOrd="0" presId="urn:microsoft.com/office/officeart/2005/8/layout/default"/>
    <dgm:cxn modelId="{2759EB2B-AD69-4154-8F51-D34E17E0FD10}" srcId="{D536892F-EA17-4C69-8845-50C90A58EBC8}" destId="{6FB1545D-D6C5-496D-BED9-9762F101697C}" srcOrd="1" destOrd="0" parTransId="{54F811C0-79CC-4FE6-9B9B-F4DFFD0CB439}" sibTransId="{4E993975-D0F3-40D7-9E2E-5FD293D5EF08}"/>
    <dgm:cxn modelId="{C9B25123-1F50-42C6-911D-E458EAA9008A}" srcId="{D536892F-EA17-4C69-8845-50C90A58EBC8}" destId="{5D25C3D3-44B1-46BB-8D4B-91B01326D0F2}" srcOrd="4" destOrd="0" parTransId="{56A7603E-E044-4123-82DF-306417924D6D}" sibTransId="{B55CD161-AB77-4D58-AAB2-806C8FC5F3A3}"/>
    <dgm:cxn modelId="{D47F338A-5A73-4F06-9091-B224B9A99280}" srcId="{D536892F-EA17-4C69-8845-50C90A58EBC8}" destId="{4620D7F5-D6FF-4736-8760-580BFB7CCBFB}" srcOrd="5" destOrd="0" parTransId="{EDBF00F1-9AE1-44C8-A99C-50BE2353B3BC}" sibTransId="{677D4F98-BCA4-4AA0-998A-73905BCC9F77}"/>
    <dgm:cxn modelId="{1BA1764C-D0B6-4CDA-A922-03B05D72EA31}" type="presOf" srcId="{D536892F-EA17-4C69-8845-50C90A58EBC8}" destId="{F104A89C-3809-445D-B696-B8DC3ABAFD4B}" srcOrd="0" destOrd="0" presId="urn:microsoft.com/office/officeart/2005/8/layout/default"/>
    <dgm:cxn modelId="{5A29B1C0-C45A-43A7-A14A-EEFA85B95777}" type="presOf" srcId="{5D25C3D3-44B1-46BB-8D4B-91B01326D0F2}" destId="{13CFE3A3-88D2-4BFF-A356-BE52DB7B5655}" srcOrd="0" destOrd="0" presId="urn:microsoft.com/office/officeart/2005/8/layout/default"/>
    <dgm:cxn modelId="{513A9757-8619-4DD1-AFC0-F8918583ABAB}" type="presOf" srcId="{6A1C596C-0BD3-4406-8E7F-CA87ABA3E2D1}" destId="{10192CF3-653C-4913-8223-75355F20B756}" srcOrd="0" destOrd="0" presId="urn:microsoft.com/office/officeart/2005/8/layout/default"/>
    <dgm:cxn modelId="{BB69DDF7-557C-44CA-9C5E-3C5CD42EB98F}" srcId="{D536892F-EA17-4C69-8845-50C90A58EBC8}" destId="{6A1C596C-0BD3-4406-8E7F-CA87ABA3E2D1}" srcOrd="2" destOrd="0" parTransId="{51468724-6EA5-472B-9914-F313B4FD800D}" sibTransId="{8F5018F5-B560-495C-B96A-4CC568129893}"/>
    <dgm:cxn modelId="{0E22D421-E50C-48BC-A8DC-A24CF779E2E3}" type="presOf" srcId="{BEC5125E-BD45-4067-81F2-351937327F00}" destId="{026311D1-9FF3-4947-8819-D705CAF8C066}" srcOrd="0" destOrd="0" presId="urn:microsoft.com/office/officeart/2005/8/layout/default"/>
    <dgm:cxn modelId="{484E605F-F8B7-4649-8DE9-917ED3CAD933}" type="presOf" srcId="{6FB1545D-D6C5-496D-BED9-9762F101697C}" destId="{DF1C3903-2663-4A4A-9383-096CCC48FD0B}" srcOrd="0" destOrd="0" presId="urn:microsoft.com/office/officeart/2005/8/layout/default"/>
    <dgm:cxn modelId="{8A2BF953-83F0-4C0D-8472-93D922D40C5F}" type="presOf" srcId="{3200FEF0-9053-411A-9772-9BB66F824A77}" destId="{5F43072D-661C-4D7A-BA1F-CA4079D03D95}" srcOrd="0" destOrd="0" presId="urn:microsoft.com/office/officeart/2005/8/layout/default"/>
    <dgm:cxn modelId="{615DD90D-2730-4FAF-857F-1A72CDC39CBE}" type="presOf" srcId="{A4A6163A-6107-4347-A75F-85E5C050B485}" destId="{C3372DCA-366B-4F6C-99E4-CEF37A6F2D2F}" srcOrd="0" destOrd="0" presId="urn:microsoft.com/office/officeart/2005/8/layout/default"/>
    <dgm:cxn modelId="{F111ADDD-9253-460F-A78B-762CEF1F801D}" srcId="{D536892F-EA17-4C69-8845-50C90A58EBC8}" destId="{3200FEF0-9053-411A-9772-9BB66F824A77}" srcOrd="3" destOrd="0" parTransId="{A3613BDF-8ECB-43C8-B0A8-CA19C9921100}" sibTransId="{7A7D05E4-00D4-427B-8E42-762C431337B8}"/>
    <dgm:cxn modelId="{F72BE79A-DBB6-4416-A89B-FE155017C700}" srcId="{D536892F-EA17-4C69-8845-50C90A58EBC8}" destId="{BEC5125E-BD45-4067-81F2-351937327F00}" srcOrd="6" destOrd="0" parTransId="{49F9F87D-7295-4972-9B9F-780E8CD90AE1}" sibTransId="{7BB04F49-998D-4B46-A606-035605BCE474}"/>
    <dgm:cxn modelId="{8F3ECDD5-2A22-4956-883D-6C7ADC5F77E5}" type="presParOf" srcId="{F104A89C-3809-445D-B696-B8DC3ABAFD4B}" destId="{C3372DCA-366B-4F6C-99E4-CEF37A6F2D2F}" srcOrd="0" destOrd="0" presId="urn:microsoft.com/office/officeart/2005/8/layout/default"/>
    <dgm:cxn modelId="{64B6E979-4CFA-43EC-A468-3027AEEBE80A}" type="presParOf" srcId="{F104A89C-3809-445D-B696-B8DC3ABAFD4B}" destId="{BC3C2C19-7941-4B1B-B635-DBB3599F7E1B}" srcOrd="1" destOrd="0" presId="urn:microsoft.com/office/officeart/2005/8/layout/default"/>
    <dgm:cxn modelId="{A649BDDB-FFDC-4191-9117-624BA2B7D348}" type="presParOf" srcId="{F104A89C-3809-445D-B696-B8DC3ABAFD4B}" destId="{DF1C3903-2663-4A4A-9383-096CCC48FD0B}" srcOrd="2" destOrd="0" presId="urn:microsoft.com/office/officeart/2005/8/layout/default"/>
    <dgm:cxn modelId="{1F112BCF-0314-4380-9C9B-FB22077256F0}" type="presParOf" srcId="{F104A89C-3809-445D-B696-B8DC3ABAFD4B}" destId="{ADB2FD02-5FDD-4986-AA7C-0E61C52CB2AB}" srcOrd="3" destOrd="0" presId="urn:microsoft.com/office/officeart/2005/8/layout/default"/>
    <dgm:cxn modelId="{00903B7C-A7C7-442C-B884-DDF5B9D38360}" type="presParOf" srcId="{F104A89C-3809-445D-B696-B8DC3ABAFD4B}" destId="{10192CF3-653C-4913-8223-75355F20B756}" srcOrd="4" destOrd="0" presId="urn:microsoft.com/office/officeart/2005/8/layout/default"/>
    <dgm:cxn modelId="{B0928069-3A5C-4239-A06E-9A5CA4351438}" type="presParOf" srcId="{F104A89C-3809-445D-B696-B8DC3ABAFD4B}" destId="{9F29422B-166A-471C-8400-DAC97BFF672D}" srcOrd="5" destOrd="0" presId="urn:microsoft.com/office/officeart/2005/8/layout/default"/>
    <dgm:cxn modelId="{C4987A03-C534-443D-ACF9-99D616A2A412}" type="presParOf" srcId="{F104A89C-3809-445D-B696-B8DC3ABAFD4B}" destId="{5F43072D-661C-4D7A-BA1F-CA4079D03D95}" srcOrd="6" destOrd="0" presId="urn:microsoft.com/office/officeart/2005/8/layout/default"/>
    <dgm:cxn modelId="{88FEAC6C-5FD1-4789-B07C-3A58EC589D5D}" type="presParOf" srcId="{F104A89C-3809-445D-B696-B8DC3ABAFD4B}" destId="{A3BFB1B4-ABF7-4453-B8C3-F1C801C39347}" srcOrd="7" destOrd="0" presId="urn:microsoft.com/office/officeart/2005/8/layout/default"/>
    <dgm:cxn modelId="{561C8962-9B4D-4E1C-A2D5-4ABCD5F4E41C}" type="presParOf" srcId="{F104A89C-3809-445D-B696-B8DC3ABAFD4B}" destId="{13CFE3A3-88D2-4BFF-A356-BE52DB7B5655}" srcOrd="8" destOrd="0" presId="urn:microsoft.com/office/officeart/2005/8/layout/default"/>
    <dgm:cxn modelId="{9837EE09-CBCF-4C2D-B022-A001DC39E59F}" type="presParOf" srcId="{F104A89C-3809-445D-B696-B8DC3ABAFD4B}" destId="{F8C72901-3818-437C-80FF-47A947A37423}" srcOrd="9" destOrd="0" presId="urn:microsoft.com/office/officeart/2005/8/layout/default"/>
    <dgm:cxn modelId="{B96879DF-7633-45D3-83B0-905E3EDE6479}" type="presParOf" srcId="{F104A89C-3809-445D-B696-B8DC3ABAFD4B}" destId="{6796905E-B20D-4A71-AC5E-1C252FF1A6C1}" srcOrd="10" destOrd="0" presId="urn:microsoft.com/office/officeart/2005/8/layout/default"/>
    <dgm:cxn modelId="{C4049A99-2A3E-49E7-9777-1E4A886483E1}" type="presParOf" srcId="{F104A89C-3809-445D-B696-B8DC3ABAFD4B}" destId="{5660EF07-C6AE-41F3-8B91-40CAB88D3251}" srcOrd="11" destOrd="0" presId="urn:microsoft.com/office/officeart/2005/8/layout/default"/>
    <dgm:cxn modelId="{963899A2-E14F-4B10-B0B1-2D6E25F59E48}" type="presParOf" srcId="{F104A89C-3809-445D-B696-B8DC3ABAFD4B}" destId="{026311D1-9FF3-4947-8819-D705CAF8C066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372DCA-366B-4F6C-99E4-CEF37A6F2D2F}">
      <dsp:nvSpPr>
        <dsp:cNvPr id="0" name=""/>
        <dsp:cNvSpPr/>
      </dsp:nvSpPr>
      <dsp:spPr>
        <a:xfrm>
          <a:off x="570418" y="318"/>
          <a:ext cx="2207166" cy="1324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2200"/>
            <a:buFont typeface="Arial"/>
            <a:buChar char="•"/>
          </a:pPr>
          <a:r>
            <a:rPr lang="es-PE" sz="2400" kern="1200" dirty="0">
              <a:latin typeface="Calibri Light" panose="020F0302020204030204" pitchFamily="34" charset="0"/>
              <a:cs typeface="Calibri Light" panose="020F0302020204030204" pitchFamily="34" charset="0"/>
            </a:rPr>
            <a:t>Exploración de datos</a:t>
          </a:r>
        </a:p>
      </dsp:txBody>
      <dsp:txXfrm>
        <a:off x="570418" y="318"/>
        <a:ext cx="2207166" cy="1324299"/>
      </dsp:txXfrm>
    </dsp:sp>
    <dsp:sp modelId="{DF1C3903-2663-4A4A-9383-096CCC48FD0B}">
      <dsp:nvSpPr>
        <dsp:cNvPr id="0" name=""/>
        <dsp:cNvSpPr/>
      </dsp:nvSpPr>
      <dsp:spPr>
        <a:xfrm>
          <a:off x="2998301" y="318"/>
          <a:ext cx="2207166" cy="1324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400" kern="1200" dirty="0">
              <a:latin typeface="Calibri Light" panose="020F0302020204030204" pitchFamily="34" charset="0"/>
              <a:cs typeface="Calibri Light" panose="020F0302020204030204" pitchFamily="34" charset="0"/>
            </a:rPr>
            <a:t>Visualización</a:t>
          </a:r>
        </a:p>
      </dsp:txBody>
      <dsp:txXfrm>
        <a:off x="2998301" y="318"/>
        <a:ext cx="2207166" cy="1324299"/>
      </dsp:txXfrm>
    </dsp:sp>
    <dsp:sp modelId="{10192CF3-653C-4913-8223-75355F20B756}">
      <dsp:nvSpPr>
        <dsp:cNvPr id="0" name=""/>
        <dsp:cNvSpPr/>
      </dsp:nvSpPr>
      <dsp:spPr>
        <a:xfrm>
          <a:off x="5426184" y="318"/>
          <a:ext cx="2207166" cy="1324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400" kern="1200" dirty="0">
              <a:latin typeface="Calibri Light" panose="020F0302020204030204" pitchFamily="34" charset="0"/>
              <a:cs typeface="Calibri Light" panose="020F0302020204030204" pitchFamily="34" charset="0"/>
            </a:rPr>
            <a:t>Machine learning</a:t>
          </a:r>
        </a:p>
      </dsp:txBody>
      <dsp:txXfrm>
        <a:off x="5426184" y="318"/>
        <a:ext cx="2207166" cy="1324299"/>
      </dsp:txXfrm>
    </dsp:sp>
    <dsp:sp modelId="{5F43072D-661C-4D7A-BA1F-CA4079D03D95}">
      <dsp:nvSpPr>
        <dsp:cNvPr id="0" name=""/>
        <dsp:cNvSpPr/>
      </dsp:nvSpPr>
      <dsp:spPr>
        <a:xfrm>
          <a:off x="570418" y="1545334"/>
          <a:ext cx="2207166" cy="1324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400" kern="1200" dirty="0">
              <a:latin typeface="Calibri Light" panose="020F0302020204030204" pitchFamily="34" charset="0"/>
              <a:cs typeface="Calibri Light" panose="020F0302020204030204" pitchFamily="34" charset="0"/>
            </a:rPr>
            <a:t>NLP</a:t>
          </a:r>
        </a:p>
      </dsp:txBody>
      <dsp:txXfrm>
        <a:off x="570418" y="1545334"/>
        <a:ext cx="2207166" cy="1324299"/>
      </dsp:txXfrm>
    </dsp:sp>
    <dsp:sp modelId="{13CFE3A3-88D2-4BFF-A356-BE52DB7B5655}">
      <dsp:nvSpPr>
        <dsp:cNvPr id="0" name=""/>
        <dsp:cNvSpPr/>
      </dsp:nvSpPr>
      <dsp:spPr>
        <a:xfrm>
          <a:off x="2998301" y="1545334"/>
          <a:ext cx="2207166" cy="1324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400" kern="1200" dirty="0">
              <a:latin typeface="Calibri Light" panose="020F0302020204030204" pitchFamily="34" charset="0"/>
              <a:cs typeface="Calibri Light" panose="020F0302020204030204" pitchFamily="34" charset="0"/>
            </a:rPr>
            <a:t>Computer Vision</a:t>
          </a:r>
        </a:p>
      </dsp:txBody>
      <dsp:txXfrm>
        <a:off x="2998301" y="1545334"/>
        <a:ext cx="2207166" cy="1324299"/>
      </dsp:txXfrm>
    </dsp:sp>
    <dsp:sp modelId="{6796905E-B20D-4A71-AC5E-1C252FF1A6C1}">
      <dsp:nvSpPr>
        <dsp:cNvPr id="0" name=""/>
        <dsp:cNvSpPr/>
      </dsp:nvSpPr>
      <dsp:spPr>
        <a:xfrm>
          <a:off x="5426184" y="1545334"/>
          <a:ext cx="2207166" cy="1324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400" kern="1200" dirty="0">
              <a:latin typeface="Calibri Light" panose="020F0302020204030204" pitchFamily="34" charset="0"/>
              <a:cs typeface="Calibri Light" panose="020F0302020204030204" pitchFamily="34" charset="0"/>
            </a:rPr>
            <a:t>Deep learning</a:t>
          </a:r>
        </a:p>
      </dsp:txBody>
      <dsp:txXfrm>
        <a:off x="5426184" y="1545334"/>
        <a:ext cx="2207166" cy="1324299"/>
      </dsp:txXfrm>
    </dsp:sp>
    <dsp:sp modelId="{026311D1-9FF3-4947-8819-D705CAF8C066}">
      <dsp:nvSpPr>
        <dsp:cNvPr id="0" name=""/>
        <dsp:cNvSpPr/>
      </dsp:nvSpPr>
      <dsp:spPr>
        <a:xfrm>
          <a:off x="2998301" y="3090351"/>
          <a:ext cx="2207166" cy="1324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400" kern="1200" dirty="0">
              <a:latin typeface="Calibri Light" panose="020F0302020204030204" pitchFamily="34" charset="0"/>
              <a:cs typeface="Calibri Light" panose="020F0302020204030204" pitchFamily="34" charset="0"/>
            </a:rPr>
            <a:t>Big data</a:t>
          </a:r>
        </a:p>
      </dsp:txBody>
      <dsp:txXfrm>
        <a:off x="2998301" y="3090351"/>
        <a:ext cx="2207166" cy="13242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n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n"/>
          <p:cNvSpPr txBox="1">
            <a:spLocks noGrp="1"/>
          </p:cNvSpPr>
          <p:nvPr>
            <p:ph type="dt" idx="10"/>
          </p:nvPr>
        </p:nvSpPr>
        <p:spPr>
          <a:xfrm>
            <a:off x="4021138" y="0"/>
            <a:ext cx="3038475" cy="47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  <a:defRPr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9" name="Google Shape;29;n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0" name="Google Shape;30;n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n"/>
          <p:cNvSpPr txBox="1"/>
          <p:nvPr/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n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75" cy="47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 sz="13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‹Nº›</a:t>
            </a:fld>
            <a:endParaRPr sz="13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537900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" name="Google Shape;144;p1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75" cy="47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3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92770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061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9541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7606bf7b0c_0_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5" name="Google Shape;185;g7606bf7b0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3636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7606bf7b0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7606bf7b0c_0_12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2" name="Google Shape;192;g7606bf7b0c_0_12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00" cy="473100"/>
          </a:xfrm>
          <a:prstGeom prst="rect">
            <a:avLst/>
          </a:prstGeom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/>
              <a:t>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1727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7606bf7b0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7606bf7b0c_0_18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1" name="Google Shape;201;g7606bf7b0c_0_18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00" cy="473100"/>
          </a:xfrm>
          <a:prstGeom prst="rect">
            <a:avLst/>
          </a:prstGeom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/>
              <a:t>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44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7606bf7b0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7606bf7b0c_0_24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1" name="Google Shape;211;g7606bf7b0c_0_24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00" cy="473100"/>
          </a:xfrm>
          <a:prstGeom prst="rect">
            <a:avLst/>
          </a:prstGeom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/>
              <a:t>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23622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7606bf7b0c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7606bf7b0c_0_30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8" name="Google Shape;218;g7606bf7b0c_0_30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00" cy="473100"/>
          </a:xfrm>
          <a:prstGeom prst="rect">
            <a:avLst/>
          </a:prstGeom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/>
              <a:t>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6873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7606bf7b0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7606bf7b0c_0_36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6" name="Google Shape;226;g7606bf7b0c_0_36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00" cy="473100"/>
          </a:xfrm>
          <a:prstGeom prst="rect">
            <a:avLst/>
          </a:prstGeom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/>
              <a:t>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6802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7606bf7b0c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7606bf7b0c_0_42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g7606bf7b0c_0_42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00" cy="473100"/>
          </a:xfrm>
          <a:prstGeom prst="rect">
            <a:avLst/>
          </a:prstGeom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/>
              <a:t>10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36521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7606bf7b0c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7606bf7b0c_0_48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2" name="Google Shape;242;g7606bf7b0c_0_48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00" cy="473100"/>
          </a:xfrm>
          <a:prstGeom prst="rect">
            <a:avLst/>
          </a:prstGeom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/>
              <a:t>11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094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6d1a46d7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6d1a46d786_0_0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g6d1a46d786_0_0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00" cy="473100"/>
          </a:xfrm>
          <a:prstGeom prst="rect">
            <a:avLst/>
          </a:prstGeom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/>
              <a:t>12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54484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7606bf7b0c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7606bf7b0c_0_54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8" name="Google Shape;258;g7606bf7b0c_0_54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00" cy="473100"/>
          </a:xfrm>
          <a:prstGeom prst="rect">
            <a:avLst/>
          </a:prstGeom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/>
              <a:t>13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11973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6d1a46d786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6d1a46d786_0_29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7" name="Google Shape;267;g6d1a46d786_0_29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00" cy="473100"/>
          </a:xfrm>
          <a:prstGeom prst="rect">
            <a:avLst/>
          </a:prstGeom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/>
              <a:t>14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53447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6d1ded417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6d1ded417b_0_0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5" name="Google Shape;275;g6d1ded417b_0_0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00" cy="473100"/>
          </a:xfrm>
          <a:prstGeom prst="rect">
            <a:avLst/>
          </a:prstGeom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/>
              <a:t>15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93617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6d1ded417b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6d1ded417b_0_1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4" name="Google Shape;284;g6d1ded417b_0_11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00" cy="473100"/>
          </a:xfrm>
          <a:prstGeom prst="rect">
            <a:avLst/>
          </a:prstGeom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/>
              <a:t>16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05415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6d1ded417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6d1ded417b_0_23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3" name="Google Shape;293;g6d1ded417b_0_23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00" cy="473100"/>
          </a:xfrm>
          <a:prstGeom prst="rect">
            <a:avLst/>
          </a:prstGeom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/>
              <a:t>17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3732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6d1ded417b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6d1ded417b_0_35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2" name="Google Shape;302;g6d1ded417b_0_35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00" cy="473100"/>
          </a:xfrm>
          <a:prstGeom prst="rect">
            <a:avLst/>
          </a:prstGeom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/>
              <a:t>18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26441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6d1ded417b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6d1ded417b_0_44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1" name="Google Shape;311;g6d1ded417b_0_44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00" cy="473100"/>
          </a:xfrm>
          <a:prstGeom prst="rect">
            <a:avLst/>
          </a:prstGeom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/>
              <a:t>19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76894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6d264b3e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6d264b3eba_0_0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0" name="Google Shape;320;g6d264b3eba_0_0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00" cy="473100"/>
          </a:xfrm>
          <a:prstGeom prst="rect">
            <a:avLst/>
          </a:prstGeom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/>
              <a:t>20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06458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6d264b3eb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6d264b3eba_0_10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9" name="Google Shape;329;g6d264b3eba_0_10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00" cy="473100"/>
          </a:xfrm>
          <a:prstGeom prst="rect">
            <a:avLst/>
          </a:prstGeom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/>
              <a:t>21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42100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5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7" name="Google Shape;33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8089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8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5" name="Google Shape;35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02582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7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9" name="Google Shape;34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84588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53988" y="768350"/>
            <a:ext cx="6753225" cy="3798888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5AEC39-B3B1-4700-81B1-F6A52B0CE89D}" type="slidenum">
              <a:rPr lang="es-PE" smtClean="0"/>
              <a:pPr/>
              <a:t>26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97209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91999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86606AB-C97E-CE7E-598C-8CEB8A6F5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5455"/>
            <a:ext cx="9144000" cy="2124508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s-ES" dirty="0" smtClean="0"/>
              <a:t>Haga clic para modificar el estilo de título del patrón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97AFD4-21F6-EC26-AED2-557F8ABB5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2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s-ES" dirty="0" smtClean="0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562E8F-B664-85DB-2014-7298CD715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2A0AC-BBE1-164C-8F12-973C18039728}" type="datetimeFigureOut">
              <a:rPr lang="es-PE" smtClean="0"/>
              <a:t>11/05/2023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57ECAE-FB38-7A7A-4E0E-1208E1D79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BFACE8-1CCF-D4EE-1B66-EE5A419F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6E46F-95B4-C84B-B630-E20AF8DF420E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364853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" y="0"/>
            <a:ext cx="12187067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25D70A8-A3FF-0BAA-F541-E2C400C40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9"/>
            <a:ext cx="9053945" cy="1325563"/>
          </a:xfrm>
        </p:spPr>
        <p:txBody>
          <a:bodyPr>
            <a:normAutofit/>
          </a:bodyPr>
          <a:lstStyle>
            <a:lvl1pPr algn="l">
              <a:defRPr sz="3300">
                <a:solidFill>
                  <a:srgbClr val="034461"/>
                </a:solidFill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0C60D6-F0D9-8677-BC64-4CF264242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650">
                <a:solidFill>
                  <a:srgbClr val="034461"/>
                </a:solidFill>
              </a:defRPr>
            </a:lvl1pPr>
            <a:lvl2pPr>
              <a:defRPr>
                <a:solidFill>
                  <a:srgbClr val="034461"/>
                </a:solidFill>
              </a:defRPr>
            </a:lvl2pPr>
            <a:lvl3pPr>
              <a:defRPr>
                <a:solidFill>
                  <a:srgbClr val="034461"/>
                </a:solidFill>
              </a:defRPr>
            </a:lvl3pPr>
            <a:lvl4pPr>
              <a:defRPr>
                <a:solidFill>
                  <a:srgbClr val="034461"/>
                </a:solidFill>
              </a:defRPr>
            </a:lvl4pPr>
            <a:lvl5pPr>
              <a:defRPr>
                <a:solidFill>
                  <a:srgbClr val="034461"/>
                </a:solidFill>
              </a:defRPr>
            </a:lvl5pPr>
          </a:lstStyle>
          <a:p>
            <a:pPr lvl="0"/>
            <a:r>
              <a:rPr lang="es-ES" dirty="0" smtClean="0"/>
              <a:t>Editar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702F91-BE28-9FD2-660A-9CE0D94D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2A0AC-BBE1-164C-8F12-973C18039728}" type="datetimeFigureOut">
              <a:rPr lang="es-PE" smtClean="0"/>
              <a:t>11/05/2023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A29A66-62B1-E141-4B83-F4457BC23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DBB4B2-8F96-6DDC-1BDE-C36CE6A70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6E46F-95B4-C84B-B630-E20AF8DF420E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655515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" y="0"/>
            <a:ext cx="12187067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2" y="365129"/>
            <a:ext cx="9007764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419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2A0AC-BBE1-164C-8F12-973C18039728}" type="datetimeFigureOut">
              <a:rPr lang="es-PE" smtClean="0"/>
              <a:t>11/05/2023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6E46F-95B4-C84B-B630-E20AF8DF420E}" type="slidenum">
              <a:rPr lang="es-PE" smtClean="0"/>
              <a:t>‹Nº›</a:t>
            </a:fld>
            <a:endParaRPr lang="es-PE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A50C60D6-F0D9-8677-BC64-4CF264242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5147771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erre">
    <p:bg>
      <p:bgPr>
        <a:solidFill>
          <a:srgbClr val="009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5456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7638C37-C4E4-819A-4ABE-0793D73C8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2A0AC-BBE1-164C-8F12-973C18039728}" type="datetimeFigureOut">
              <a:rPr lang="es-PE" smtClean="0"/>
              <a:t>11/05/2023</a:t>
            </a:fld>
            <a:endParaRPr lang="es-PE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C5FAB76-A732-6F1B-1596-1E52CCF58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817C1D-A5EA-E474-A735-7BE954B00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6E46F-95B4-C84B-B630-E20AF8DF420E}" type="slidenum">
              <a:rPr lang="es-PE" smtClean="0"/>
              <a:t>‹Nº›</a:t>
            </a:fld>
            <a:endParaRPr lang="es-PE" dirty="0"/>
          </a:p>
        </p:txBody>
      </p:sp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7086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rátula">
  <p:cSld name="Carátula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 txBox="1">
            <a:spLocks noGrp="1"/>
          </p:cNvSpPr>
          <p:nvPr>
            <p:ph type="ctrTitle"/>
          </p:nvPr>
        </p:nvSpPr>
        <p:spPr>
          <a:xfrm>
            <a:off x="1219200" y="2667000"/>
            <a:ext cx="9753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"/>
          <p:cNvSpPr txBox="1">
            <a:spLocks noGrp="1"/>
          </p:cNvSpPr>
          <p:nvPr>
            <p:ph type="subTitle" idx="1"/>
          </p:nvPr>
        </p:nvSpPr>
        <p:spPr>
          <a:xfrm>
            <a:off x="1236133" y="4419600"/>
            <a:ext cx="9736667" cy="364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SzPts val="1320"/>
              <a:buFont typeface="Arial"/>
              <a:buNone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550"/>
              </a:spcBef>
              <a:spcAft>
                <a:spcPts val="0"/>
              </a:spcAft>
              <a:buSzPts val="1260"/>
              <a:buChar char="–"/>
              <a:defRPr/>
            </a:lvl2pPr>
            <a:lvl3pPr lvl="2" algn="l">
              <a:spcBef>
                <a:spcPts val="500"/>
              </a:spcBef>
              <a:spcAft>
                <a:spcPts val="0"/>
              </a:spcAft>
              <a:buSzPts val="1350"/>
              <a:buChar char="–"/>
              <a:defRPr/>
            </a:lvl3pPr>
            <a:lvl4pPr lvl="3" algn="l">
              <a:spcBef>
                <a:spcPts val="400"/>
              </a:spcBef>
              <a:spcAft>
                <a:spcPts val="0"/>
              </a:spcAft>
              <a:buSzPts val="1350"/>
              <a:buChar char="–"/>
              <a:defRPr/>
            </a:lvl4pPr>
            <a:lvl5pPr lvl="4" algn="l">
              <a:spcBef>
                <a:spcPts val="400"/>
              </a:spcBef>
              <a:spcAft>
                <a:spcPts val="0"/>
              </a:spcAft>
              <a:buSzPts val="1170"/>
              <a:buChar char="–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9477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>
            <a:spLocks noGrp="1"/>
          </p:cNvSpPr>
          <p:nvPr>
            <p:ph type="title"/>
          </p:nvPr>
        </p:nvSpPr>
        <p:spPr>
          <a:xfrm>
            <a:off x="812800" y="439739"/>
            <a:ext cx="10557933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2489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ierre">
    <p:bg>
      <p:bgPr>
        <a:solidFill>
          <a:srgbClr val="009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23 Grupo"/>
          <p:cNvGrpSpPr/>
          <p:nvPr/>
        </p:nvGrpSpPr>
        <p:grpSpPr>
          <a:xfrm>
            <a:off x="7447852" y="2790676"/>
            <a:ext cx="833903" cy="650841"/>
            <a:chOff x="894304" y="3428999"/>
            <a:chExt cx="816541" cy="849720"/>
          </a:xfrm>
        </p:grpSpPr>
        <p:sp>
          <p:nvSpPr>
            <p:cNvPr id="25" name="24 Conector"/>
            <p:cNvSpPr/>
            <p:nvPr/>
          </p:nvSpPr>
          <p:spPr>
            <a:xfrm>
              <a:off x="894304" y="342899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290" dirty="0">
                <a:solidFill>
                  <a:prstClr val="white"/>
                </a:solidFill>
              </a:endParaRPr>
            </a:p>
          </p:txBody>
        </p:sp>
        <p:sp>
          <p:nvSpPr>
            <p:cNvPr id="26" name="25 Conector"/>
            <p:cNvSpPr/>
            <p:nvPr/>
          </p:nvSpPr>
          <p:spPr>
            <a:xfrm>
              <a:off x="1113298" y="3648766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290" dirty="0">
                <a:solidFill>
                  <a:prstClr val="white"/>
                </a:solidFill>
              </a:endParaRPr>
            </a:p>
          </p:txBody>
        </p:sp>
        <p:sp>
          <p:nvSpPr>
            <p:cNvPr id="27" name="26 Conector"/>
            <p:cNvSpPr/>
            <p:nvPr/>
          </p:nvSpPr>
          <p:spPr>
            <a:xfrm>
              <a:off x="1304648" y="3854057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290" dirty="0">
                <a:solidFill>
                  <a:prstClr val="white"/>
                </a:solidFill>
              </a:endParaRPr>
            </a:p>
          </p:txBody>
        </p:sp>
        <p:sp>
          <p:nvSpPr>
            <p:cNvPr id="28" name="27 Conector"/>
            <p:cNvSpPr/>
            <p:nvPr/>
          </p:nvSpPr>
          <p:spPr>
            <a:xfrm>
              <a:off x="1512845" y="408071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29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29" name="28 Grupo"/>
          <p:cNvGrpSpPr/>
          <p:nvPr/>
        </p:nvGrpSpPr>
        <p:grpSpPr>
          <a:xfrm>
            <a:off x="7859461" y="3564928"/>
            <a:ext cx="824801" cy="647964"/>
            <a:chOff x="1285779" y="4472193"/>
            <a:chExt cx="807628" cy="845964"/>
          </a:xfrm>
        </p:grpSpPr>
        <p:sp>
          <p:nvSpPr>
            <p:cNvPr id="30" name="29 Conector"/>
            <p:cNvSpPr/>
            <p:nvPr/>
          </p:nvSpPr>
          <p:spPr>
            <a:xfrm>
              <a:off x="1285779" y="5120157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290" dirty="0">
                <a:solidFill>
                  <a:prstClr val="white"/>
                </a:solidFill>
              </a:endParaRPr>
            </a:p>
          </p:txBody>
        </p:sp>
        <p:sp>
          <p:nvSpPr>
            <p:cNvPr id="31" name="30 Conector"/>
            <p:cNvSpPr/>
            <p:nvPr/>
          </p:nvSpPr>
          <p:spPr>
            <a:xfrm>
              <a:off x="1491673" y="4906988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290" dirty="0">
                <a:solidFill>
                  <a:prstClr val="white"/>
                </a:solidFill>
              </a:endParaRPr>
            </a:p>
          </p:txBody>
        </p:sp>
        <p:sp>
          <p:nvSpPr>
            <p:cNvPr id="32" name="31 Conector"/>
            <p:cNvSpPr/>
            <p:nvPr/>
          </p:nvSpPr>
          <p:spPr>
            <a:xfrm>
              <a:off x="1692941" y="4687637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290" dirty="0">
                <a:solidFill>
                  <a:prstClr val="white"/>
                </a:solidFill>
              </a:endParaRPr>
            </a:p>
          </p:txBody>
        </p:sp>
        <p:sp>
          <p:nvSpPr>
            <p:cNvPr id="33" name="32 Conector"/>
            <p:cNvSpPr/>
            <p:nvPr/>
          </p:nvSpPr>
          <p:spPr>
            <a:xfrm>
              <a:off x="1895407" y="4472193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29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34" name="33 Grupo"/>
          <p:cNvGrpSpPr/>
          <p:nvPr/>
        </p:nvGrpSpPr>
        <p:grpSpPr>
          <a:xfrm>
            <a:off x="8125334" y="2790676"/>
            <a:ext cx="833903" cy="650841"/>
            <a:chOff x="894304" y="3428999"/>
            <a:chExt cx="816541" cy="849720"/>
          </a:xfrm>
        </p:grpSpPr>
        <p:sp>
          <p:nvSpPr>
            <p:cNvPr id="35" name="34 Conector"/>
            <p:cNvSpPr/>
            <p:nvPr/>
          </p:nvSpPr>
          <p:spPr>
            <a:xfrm>
              <a:off x="894304" y="342899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290" dirty="0">
                <a:solidFill>
                  <a:prstClr val="white"/>
                </a:solidFill>
              </a:endParaRPr>
            </a:p>
          </p:txBody>
        </p:sp>
        <p:sp>
          <p:nvSpPr>
            <p:cNvPr id="36" name="35 Conector"/>
            <p:cNvSpPr/>
            <p:nvPr/>
          </p:nvSpPr>
          <p:spPr>
            <a:xfrm>
              <a:off x="1113298" y="3648766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290" dirty="0">
                <a:solidFill>
                  <a:prstClr val="white"/>
                </a:solidFill>
              </a:endParaRPr>
            </a:p>
          </p:txBody>
        </p:sp>
        <p:sp>
          <p:nvSpPr>
            <p:cNvPr id="37" name="36 Conector"/>
            <p:cNvSpPr/>
            <p:nvPr/>
          </p:nvSpPr>
          <p:spPr>
            <a:xfrm>
              <a:off x="1304648" y="3854057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290" dirty="0">
                <a:solidFill>
                  <a:prstClr val="white"/>
                </a:solidFill>
              </a:endParaRPr>
            </a:p>
          </p:txBody>
        </p:sp>
        <p:sp>
          <p:nvSpPr>
            <p:cNvPr id="38" name="37 Conector"/>
            <p:cNvSpPr/>
            <p:nvPr/>
          </p:nvSpPr>
          <p:spPr>
            <a:xfrm>
              <a:off x="1512845" y="408071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290" dirty="0">
                <a:solidFill>
                  <a:prstClr val="white"/>
                </a:solidFill>
              </a:endParaRPr>
            </a:p>
          </p:txBody>
        </p:sp>
      </p:grpSp>
      <p:sp>
        <p:nvSpPr>
          <p:cNvPr id="19" name="Text Placeholder 2"/>
          <p:cNvSpPr>
            <a:spLocks noGrp="1"/>
          </p:cNvSpPr>
          <p:nvPr>
            <p:ph idx="1" hasCustomPrompt="1"/>
          </p:nvPr>
        </p:nvSpPr>
        <p:spPr>
          <a:xfrm>
            <a:off x="440988" y="2579785"/>
            <a:ext cx="11266917" cy="1633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sz="4105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s-ES" dirty="0"/>
              <a:t>Gracias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407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E88DDC1-14A3-C6A9-B097-512ED0B45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EF6BF9-086F-65CD-B94B-31A6BC040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DF783F-FA67-9D6E-C8F6-9575CCEE5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2AE2A0AC-BBE1-164C-8F12-973C18039728}" type="datetimeFigureOut">
              <a:rPr lang="es-PE" smtClean="0"/>
              <a:pPr/>
              <a:t>11/05/2023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9DB767-EF16-0C25-D092-ACBCD48378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s-PE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374E18-932E-411E-DED4-1C6CEFDFE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1226E46F-95B4-C84B-B630-E20AF8DF420E}" type="slidenum">
              <a:rPr lang="es-PE" smtClean="0"/>
              <a:pPr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35761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77" r:id="rId8"/>
  </p:sldLayoutIdLst>
  <p:timing>
    <p:tnLst>
      <p:par>
        <p:cTn id="1" dur="indefinite" restart="never" nodeType="tmRoot"/>
      </p:par>
    </p:tnLst>
  </p:timing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microsoft.com/office/2018/10/relationships/comments" Target="../comments/modernComment_108_0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alpython.com/python3-object-oriented-programming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hyperlink" Target="https://realpython.com/python-exceptions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realpython.com/python-exceptions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alpython.com/list-comprehension-python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realpython.com/python-lambda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arnpython.org/en/Map,_Filter,_Reduce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arnpython.org/en/Map,_Filter,_Reduce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arnpython.org/en/Map,_Filter,_Reduce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realpython.com/introduction-to-python-generators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realpython.com/primer-on-python-decorators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" TargetMode="External"/><Relationship Id="rId2" Type="http://schemas.openxmlformats.org/officeDocument/2006/relationships/hyperlink" Target="https://www.python.org/doc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kaggle.com/" TargetMode="External"/><Relationship Id="rId4" Type="http://schemas.openxmlformats.org/officeDocument/2006/relationships/hyperlink" Target="https://www.tensorflow.org/?hl=es-419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ítulo 1"/>
          <p:cNvSpPr txBox="1">
            <a:spLocks/>
          </p:cNvSpPr>
          <p:nvPr/>
        </p:nvSpPr>
        <p:spPr>
          <a:xfrm>
            <a:off x="1524000" y="1828800"/>
            <a:ext cx="9144000" cy="21245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PYTHON FUNDAMENTALS FOR DATA SCIENCE</a:t>
            </a:r>
            <a:endParaRPr lang="es-419" sz="60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" name="Subtítulo 2"/>
          <p:cNvSpPr txBox="1">
            <a:spLocks/>
          </p:cNvSpPr>
          <p:nvPr/>
        </p:nvSpPr>
        <p:spPr>
          <a:xfrm>
            <a:off x="1524000" y="41354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51435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None/>
              <a:defRPr sz="225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257175" indent="0" algn="ctr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None/>
              <a:defRPr sz="1125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14350" indent="0" algn="ctr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None/>
              <a:defRPr sz="1013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771525" indent="0" algn="ctr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028700" indent="0" algn="ctr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285875" indent="0" algn="ctr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43050" indent="0" algn="ctr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00225" indent="0" algn="ctr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0" algn="ctr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es-ES" sz="3000" dirty="0" smtClean="0"/>
              <a:t>Capítulo 2: </a:t>
            </a:r>
            <a:r>
              <a:rPr lang="es-PE" sz="3000" dirty="0" smtClean="0"/>
              <a:t>Lenguaje </a:t>
            </a:r>
            <a:r>
              <a:rPr lang="es-PE" sz="3000" dirty="0"/>
              <a:t>PYTHON</a:t>
            </a:r>
            <a:r>
              <a:rPr lang="es-ES" sz="3000" dirty="0" smtClean="0"/>
              <a:t>	</a:t>
            </a:r>
            <a:br>
              <a:rPr lang="es-ES" sz="3000" dirty="0" smtClean="0"/>
            </a:br>
            <a:endParaRPr lang="es-419" sz="3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 smtClean="0">
                <a:solidFill>
                  <a:srgbClr val="3B5C6A"/>
                </a:solidFill>
              </a:rPr>
              <a:t>OBJETIVOS</a:t>
            </a:r>
            <a:endParaRPr lang="es-PE" sz="4400" dirty="0">
              <a:solidFill>
                <a:srgbClr val="3B5C6A"/>
              </a:solidFill>
            </a:endParaRPr>
          </a:p>
        </p:txBody>
      </p:sp>
      <p:sp>
        <p:nvSpPr>
          <p:cNvPr id="170" name="Google Shape;170;p3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447675" lvl="0" indent="-447675"/>
            <a:r>
              <a:rPr lang="es-PE" sz="2800" dirty="0"/>
              <a:t>Entender la sintaxis del lenguaje de programación y su aplicación en la Ciencia de Datos.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 smtClean="0"/>
              <a:t>AGENDA</a:t>
            </a:r>
            <a:endParaRPr lang="es-PE" sz="4400" dirty="0"/>
          </a:p>
        </p:txBody>
      </p:sp>
      <p:sp>
        <p:nvSpPr>
          <p:cNvPr id="176" name="Google Shape;176;p3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indent="-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+mj-lt"/>
              <a:buAutoNum type="arabicPeriod"/>
            </a:pPr>
            <a:r>
              <a:rPr lang="es-PE" sz="2800" dirty="0">
                <a:solidFill>
                  <a:srgbClr val="3B5C6A"/>
                </a:solidFill>
              </a:rPr>
              <a:t>Python en Data Science.</a:t>
            </a:r>
            <a:endParaRPr sz="2800" dirty="0">
              <a:solidFill>
                <a:srgbClr val="3B5C6A"/>
              </a:solidFill>
            </a:endParaRPr>
          </a:p>
          <a:p>
            <a:pPr indent="-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+mj-lt"/>
              <a:buAutoNum type="arabicPeriod"/>
            </a:pPr>
            <a:r>
              <a:rPr lang="es-PE" sz="2800" dirty="0">
                <a:solidFill>
                  <a:srgbClr val="3B5C6A"/>
                </a:solidFill>
              </a:rPr>
              <a:t>OOP.</a:t>
            </a:r>
            <a:endParaRPr sz="2800" dirty="0">
              <a:solidFill>
                <a:srgbClr val="3B5C6A"/>
              </a:solidFill>
            </a:endParaRPr>
          </a:p>
          <a:p>
            <a:pPr indent="-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+mj-lt"/>
              <a:buAutoNum type="arabicPeriod"/>
            </a:pPr>
            <a:r>
              <a:rPr lang="es-PE" sz="2800" dirty="0">
                <a:solidFill>
                  <a:srgbClr val="3B5C6A"/>
                </a:solidFill>
              </a:rPr>
              <a:t>Manejo de errores.</a:t>
            </a:r>
            <a:endParaRPr sz="2800" dirty="0">
              <a:solidFill>
                <a:srgbClr val="3B5C6A"/>
              </a:solidFill>
            </a:endParaRPr>
          </a:p>
          <a:p>
            <a:pPr indent="-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+mj-lt"/>
              <a:buAutoNum type="arabicPeriod"/>
            </a:pPr>
            <a:r>
              <a:rPr lang="es-PE" sz="2800" dirty="0">
                <a:solidFill>
                  <a:srgbClr val="3B5C6A"/>
                </a:solidFill>
              </a:rPr>
              <a:t>List Comprehensions.</a:t>
            </a:r>
            <a:endParaRPr sz="2800" dirty="0">
              <a:solidFill>
                <a:srgbClr val="3B5C6A"/>
              </a:solidFill>
            </a:endParaRPr>
          </a:p>
          <a:p>
            <a:pPr indent="-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+mj-lt"/>
              <a:buAutoNum type="arabicPeriod"/>
            </a:pPr>
            <a:r>
              <a:rPr lang="es-PE" sz="2800" dirty="0">
                <a:solidFill>
                  <a:srgbClr val="3B5C6A"/>
                </a:solidFill>
              </a:rPr>
              <a:t>Funciones Lambda.</a:t>
            </a:r>
            <a:endParaRPr sz="2800" dirty="0">
              <a:solidFill>
                <a:srgbClr val="3B5C6A"/>
              </a:solidFill>
            </a:endParaRPr>
          </a:p>
          <a:p>
            <a:pPr indent="-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+mj-lt"/>
              <a:buAutoNum type="arabicPeriod"/>
            </a:pPr>
            <a:r>
              <a:rPr lang="es-PE" sz="2800" dirty="0">
                <a:solidFill>
                  <a:srgbClr val="3B5C6A"/>
                </a:solidFill>
              </a:rPr>
              <a:t>Map/Reduce.</a:t>
            </a:r>
          </a:p>
          <a:p>
            <a:pPr indent="-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+mj-lt"/>
              <a:buAutoNum type="arabicPeriod"/>
            </a:pPr>
            <a:r>
              <a:rPr lang="es-PE" sz="2800" dirty="0">
                <a:solidFill>
                  <a:srgbClr val="3B5C6A"/>
                </a:solidFill>
              </a:rPr>
              <a:t>Generadores.</a:t>
            </a:r>
            <a:endParaRPr sz="2800" dirty="0">
              <a:solidFill>
                <a:srgbClr val="3B5C6A"/>
              </a:solidFill>
            </a:endParaRPr>
          </a:p>
          <a:p>
            <a:pPr indent="-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+mj-lt"/>
              <a:buAutoNum type="arabicPeriod"/>
            </a:pPr>
            <a:r>
              <a:rPr lang="es-PE" sz="2800" dirty="0">
                <a:solidFill>
                  <a:srgbClr val="3B5C6A"/>
                </a:solidFill>
              </a:rPr>
              <a:t>Decoradores.</a:t>
            </a:r>
            <a:endParaRPr sz="2800" dirty="0">
              <a:solidFill>
                <a:srgbClr val="3B5C6A"/>
              </a:solidFill>
            </a:endParaRPr>
          </a:p>
          <a:p>
            <a:pPr marL="342900" indent="-203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ts val="2200"/>
            </a:pPr>
            <a:endParaRPr sz="2800" dirty="0">
              <a:solidFill>
                <a:srgbClr val="3B5C6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fr-FR" sz="4400" dirty="0" smtClean="0"/>
              <a:t>1. PYTHON EN DATA SCIENCE</a:t>
            </a:r>
            <a:endParaRPr lang="fr-FR" sz="4400" dirty="0"/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804F9755-5A80-E4D9-C9AF-8525B0268D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3049313"/>
              </p:ext>
            </p:extLst>
          </p:nvPr>
        </p:nvGraphicFramePr>
        <p:xfrm>
          <a:off x="2133601" y="1944879"/>
          <a:ext cx="8203769" cy="44149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541338" indent="-541338"/>
            <a:r>
              <a:rPr lang="es-PE" sz="4400" dirty="0" smtClean="0">
                <a:solidFill>
                  <a:srgbClr val="3B5C6A"/>
                </a:solidFill>
              </a:rPr>
              <a:t>1. PYTHON EN DATA SCIENCE</a:t>
            </a:r>
            <a:r>
              <a:rPr lang="es-PE" dirty="0">
                <a:solidFill>
                  <a:srgbClr val="3B5C6A"/>
                </a:solidFill>
              </a:rPr>
              <a:t/>
            </a:r>
            <a:br>
              <a:rPr lang="es-PE" dirty="0">
                <a:solidFill>
                  <a:srgbClr val="3B5C6A"/>
                </a:solidFill>
              </a:rPr>
            </a:br>
            <a:r>
              <a:rPr lang="es-PE" sz="3200" dirty="0">
                <a:solidFill>
                  <a:srgbClr val="3B5C6A"/>
                </a:solidFill>
              </a:rPr>
              <a:t>- </a:t>
            </a:r>
            <a:r>
              <a:rPr lang="es-PE" sz="3200" dirty="0" smtClean="0">
                <a:solidFill>
                  <a:srgbClr val="3B5C6A"/>
                </a:solidFill>
              </a:rPr>
              <a:t>Exploración </a:t>
            </a:r>
            <a:r>
              <a:rPr lang="es-PE" sz="3200" dirty="0">
                <a:solidFill>
                  <a:srgbClr val="3B5C6A"/>
                </a:solidFill>
              </a:rPr>
              <a:t>de datos -</a:t>
            </a:r>
          </a:p>
        </p:txBody>
      </p:sp>
      <p:pic>
        <p:nvPicPr>
          <p:cNvPr id="195" name="Google Shape;19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164" y="1578726"/>
            <a:ext cx="7118724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26888" y="1578726"/>
            <a:ext cx="152400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2877" y="3626525"/>
            <a:ext cx="4982626" cy="292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541338" indent="-541338"/>
            <a:r>
              <a:rPr lang="es-PE" sz="4400" dirty="0" smtClean="0"/>
              <a:t>1. PYTHON EN DATA SCIENCE</a:t>
            </a:r>
            <a:r>
              <a:rPr lang="es-PE" dirty="0"/>
              <a:t/>
            </a:r>
            <a:br>
              <a:rPr lang="es-PE" dirty="0"/>
            </a:br>
            <a:r>
              <a:rPr lang="es-PE" sz="3200" dirty="0"/>
              <a:t>- Visualización -</a:t>
            </a:r>
            <a:endParaRPr sz="3200" dirty="0"/>
          </a:p>
        </p:txBody>
      </p:sp>
      <p:pic>
        <p:nvPicPr>
          <p:cNvPr id="204" name="Google Shape;20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5817" y="1952682"/>
            <a:ext cx="3978925" cy="34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0341" y="5744557"/>
            <a:ext cx="1589874" cy="66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5792" y="1952682"/>
            <a:ext cx="4544449" cy="34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89766" y="5829932"/>
            <a:ext cx="1771650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541338" indent="-541338"/>
            <a:r>
              <a:rPr lang="es-PE" sz="4400" dirty="0" smtClean="0">
                <a:solidFill>
                  <a:srgbClr val="3B5C6A"/>
                </a:solidFill>
              </a:rPr>
              <a:t>1. PYTHON EN DATA SCIENCE</a:t>
            </a:r>
            <a:r>
              <a:rPr lang="es-PE" dirty="0"/>
              <a:t/>
            </a:r>
            <a:br>
              <a:rPr lang="es-PE" dirty="0"/>
            </a:br>
            <a:r>
              <a:rPr lang="es-PE" sz="3200" dirty="0"/>
              <a:t>- Machine Learning -</a:t>
            </a:r>
            <a:endParaRPr sz="3200" dirty="0"/>
          </a:p>
        </p:txBody>
      </p:sp>
      <p:pic>
        <p:nvPicPr>
          <p:cNvPr id="214" name="Google Shape;21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9829" y="1825625"/>
            <a:ext cx="7985183" cy="4781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541338" indent="-541338"/>
            <a:r>
              <a:rPr lang="es-PE" sz="4400" dirty="0" smtClean="0"/>
              <a:t>1. PYTHON EN DATA SCIENCE</a:t>
            </a:r>
            <a:r>
              <a:rPr lang="es-PE" dirty="0"/>
              <a:t/>
            </a:r>
            <a:br>
              <a:rPr lang="es-PE" dirty="0"/>
            </a:br>
            <a:r>
              <a:rPr lang="es-PE" sz="3200" dirty="0"/>
              <a:t>- NLP -</a:t>
            </a:r>
            <a:endParaRPr sz="3200" dirty="0"/>
          </a:p>
        </p:txBody>
      </p:sp>
      <p:pic>
        <p:nvPicPr>
          <p:cNvPr id="221" name="Google Shape;22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8177" y="2500363"/>
            <a:ext cx="4271373" cy="2021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7058" y="3041780"/>
            <a:ext cx="3073691" cy="93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 mod="1">
    <p:ext uri="{6950BFC3-D8DA-4A85-94F7-54DA5524770B}">
      <p188:commentRel xmlns:p188="http://schemas.microsoft.com/office/powerpoint/2018/8/main" xmlns="" r:id="rId5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541338" indent="-541338"/>
            <a:r>
              <a:rPr lang="es-PE" sz="4400" dirty="0" smtClean="0"/>
              <a:t>1. PYTHON EN DATA SCIENCE</a:t>
            </a:r>
            <a:r>
              <a:rPr lang="es-PE" dirty="0"/>
              <a:t/>
            </a:r>
            <a:br>
              <a:rPr lang="es-PE" dirty="0"/>
            </a:br>
            <a:r>
              <a:rPr lang="es-PE" sz="3200" dirty="0"/>
              <a:t>- Computer Vision -</a:t>
            </a:r>
            <a:endParaRPr sz="3200" dirty="0"/>
          </a:p>
        </p:txBody>
      </p:sp>
      <p:pic>
        <p:nvPicPr>
          <p:cNvPr id="229" name="Google Shape;22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8143" y="1690692"/>
            <a:ext cx="4020200" cy="4951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541338" indent="-541338"/>
            <a:r>
              <a:rPr lang="es-PE" sz="4400" dirty="0" smtClean="0"/>
              <a:t>1. PYTHON EN DATA SCIENCE</a:t>
            </a:r>
            <a:r>
              <a:rPr lang="es-PE" dirty="0"/>
              <a:t/>
            </a:r>
            <a:br>
              <a:rPr lang="es-PE" dirty="0"/>
            </a:br>
            <a:r>
              <a:rPr lang="es-PE" sz="3200" dirty="0"/>
              <a:t>- Deep Learning -</a:t>
            </a:r>
            <a:endParaRPr sz="3200" dirty="0"/>
          </a:p>
        </p:txBody>
      </p:sp>
      <p:pic>
        <p:nvPicPr>
          <p:cNvPr id="236" name="Google Shape;23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8876" y="2088636"/>
            <a:ext cx="3797151" cy="1101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8475" y="2199610"/>
            <a:ext cx="419100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1837" y="3799011"/>
            <a:ext cx="5073276" cy="2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541338" indent="-541338"/>
            <a:r>
              <a:rPr lang="es-PE" sz="4400" dirty="0" smtClean="0"/>
              <a:t>1. PYTHON EN DATA SCIENCE</a:t>
            </a:r>
            <a:r>
              <a:rPr lang="es-PE" dirty="0"/>
              <a:t/>
            </a:r>
            <a:br>
              <a:rPr lang="es-PE" dirty="0"/>
            </a:br>
            <a:r>
              <a:rPr lang="es-PE" sz="3200" dirty="0"/>
              <a:t>- Big Data -</a:t>
            </a:r>
            <a:endParaRPr sz="3200" dirty="0"/>
          </a:p>
        </p:txBody>
      </p:sp>
      <p:pic>
        <p:nvPicPr>
          <p:cNvPr id="245" name="Google Shape;24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1779" y="1461180"/>
            <a:ext cx="6076950" cy="46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>
                <a:solidFill>
                  <a:srgbClr val="3B5C6A"/>
                </a:solidFill>
              </a:rPr>
              <a:t>2. OOP</a:t>
            </a:r>
            <a:endParaRPr sz="4400" dirty="0">
              <a:solidFill>
                <a:srgbClr val="3B5C6A"/>
              </a:solidFill>
            </a:endParaRPr>
          </a:p>
        </p:txBody>
      </p:sp>
      <p:sp>
        <p:nvSpPr>
          <p:cNvPr id="254" name="Google Shape;254;p4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541338" indent="-485775" algn="just">
              <a:spcBef>
                <a:spcPts val="0"/>
              </a:spcBef>
              <a:buClr>
                <a:srgbClr val="3B5C6A"/>
              </a:buClr>
              <a:buSzPct val="100000"/>
            </a:pPr>
            <a:r>
              <a:rPr lang="es-PE" sz="2800" dirty="0">
                <a:solidFill>
                  <a:srgbClr val="3B5C6A"/>
                </a:solidFill>
              </a:rPr>
              <a:t>Programación orientada a objetos.</a:t>
            </a:r>
            <a:endParaRPr sz="2800" dirty="0">
              <a:solidFill>
                <a:srgbClr val="3B5C6A"/>
              </a:solidFill>
            </a:endParaRPr>
          </a:p>
          <a:p>
            <a:pPr marL="541338" indent="-485775" algn="just">
              <a:spcBef>
                <a:spcPts val="0"/>
              </a:spcBef>
              <a:buClr>
                <a:srgbClr val="3B5C6A"/>
              </a:buClr>
            </a:pPr>
            <a:r>
              <a:rPr lang="es-PE" sz="2800" dirty="0">
                <a:solidFill>
                  <a:srgbClr val="3B5C6A"/>
                </a:solidFill>
              </a:rPr>
              <a:t>Paradigma:</a:t>
            </a:r>
            <a:endParaRPr sz="2800" dirty="0">
              <a:solidFill>
                <a:srgbClr val="3B5C6A"/>
              </a:solidFill>
            </a:endParaRPr>
          </a:p>
          <a:p>
            <a:pPr marL="1082675" lvl="1" indent="-541338" algn="just">
              <a:spcBef>
                <a:spcPts val="0"/>
              </a:spcBef>
              <a:buFont typeface="Calibri Light" panose="020F0302020204030204" pitchFamily="34" charset="0"/>
              <a:buChar char="−"/>
            </a:pPr>
            <a:r>
              <a:rPr lang="es-PE" sz="2400" dirty="0">
                <a:solidFill>
                  <a:srgbClr val="3B5C6A"/>
                </a:solidFill>
              </a:rPr>
              <a:t>Modelar objetos</a:t>
            </a:r>
            <a:endParaRPr sz="2400" dirty="0">
              <a:solidFill>
                <a:srgbClr val="3B5C6A"/>
              </a:solidFill>
            </a:endParaRPr>
          </a:p>
          <a:p>
            <a:pPr marL="1082675" lvl="1" indent="-541338" algn="just">
              <a:spcBef>
                <a:spcPts val="0"/>
              </a:spcBef>
              <a:buFont typeface="Calibri Light" panose="020F0302020204030204" pitchFamily="34" charset="0"/>
              <a:buChar char="−"/>
            </a:pPr>
            <a:r>
              <a:rPr lang="es-PE" sz="2400" dirty="0">
                <a:solidFill>
                  <a:srgbClr val="3B5C6A"/>
                </a:solidFill>
              </a:rPr>
              <a:t>Propiedades</a:t>
            </a:r>
            <a:endParaRPr sz="2400" dirty="0">
              <a:solidFill>
                <a:srgbClr val="3B5C6A"/>
              </a:solidFill>
            </a:endParaRPr>
          </a:p>
          <a:p>
            <a:pPr marL="1082675" lvl="1" indent="-541338" algn="just">
              <a:spcBef>
                <a:spcPts val="0"/>
              </a:spcBef>
              <a:buFont typeface="Calibri Light" panose="020F0302020204030204" pitchFamily="34" charset="0"/>
              <a:buChar char="−"/>
            </a:pPr>
            <a:r>
              <a:rPr lang="es-PE" sz="2400" dirty="0">
                <a:solidFill>
                  <a:srgbClr val="3B5C6A"/>
                </a:solidFill>
              </a:rPr>
              <a:t>Comportamiento</a:t>
            </a:r>
            <a:endParaRPr sz="2400" dirty="0">
              <a:solidFill>
                <a:srgbClr val="3B5C6A"/>
              </a:solidFill>
            </a:endParaRPr>
          </a:p>
          <a:p>
            <a:pPr marL="0" indent="-83820" algn="just">
              <a:spcBef>
                <a:spcPts val="0"/>
              </a:spcBef>
              <a:buChar char="•"/>
            </a:pPr>
            <a:endParaRPr sz="2800" dirty="0">
              <a:solidFill>
                <a:srgbClr val="3B5C6A"/>
              </a:solidFill>
            </a:endParaRPr>
          </a:p>
          <a:p>
            <a:pPr marL="342900" indent="-203200" algn="just">
              <a:buSzPts val="2200"/>
            </a:pPr>
            <a:endParaRPr sz="2800" dirty="0">
              <a:solidFill>
                <a:srgbClr val="3B5C6A"/>
              </a:solidFill>
            </a:endParaRPr>
          </a:p>
          <a:p>
            <a:pPr marL="0" indent="0"/>
            <a:endParaRPr sz="2800" dirty="0">
              <a:solidFill>
                <a:srgbClr val="3B5C6A"/>
              </a:solidFill>
            </a:endParaRPr>
          </a:p>
        </p:txBody>
      </p:sp>
      <p:pic>
        <p:nvPicPr>
          <p:cNvPr id="252" name="Google Shape;25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8670" y="1825625"/>
            <a:ext cx="4281196" cy="416830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53" name="Google Shape;253;p43"/>
          <p:cNvSpPr txBox="1"/>
          <p:nvPr/>
        </p:nvSpPr>
        <p:spPr>
          <a:xfrm>
            <a:off x="1511559" y="5066956"/>
            <a:ext cx="4900206" cy="5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es-PE" sz="1600" u="sng" dirty="0">
                <a:solidFill>
                  <a:srgbClr val="3B5C6A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4"/>
              </a:rPr>
              <a:t>https://realpython.com/python3-object-oriented-programming/</a:t>
            </a:r>
            <a:endParaRPr sz="2000" dirty="0">
              <a:solidFill>
                <a:srgbClr val="3B5C6A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 smtClean="0"/>
              <a:t>3. MANEJO DE ERRORES</a:t>
            </a:r>
            <a:endParaRPr lang="es-PE" sz="4400" dirty="0"/>
          </a:p>
        </p:txBody>
      </p:sp>
      <p:pic>
        <p:nvPicPr>
          <p:cNvPr id="261" name="Google Shape;26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2394" y="1784516"/>
            <a:ext cx="6629400" cy="15240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262" name="Google Shape;262;p44"/>
          <p:cNvSpPr txBox="1"/>
          <p:nvPr/>
        </p:nvSpPr>
        <p:spPr>
          <a:xfrm>
            <a:off x="2914294" y="5859716"/>
            <a:ext cx="6705600" cy="690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s-PE" sz="1200" u="sng" dirty="0">
                <a:solidFill>
                  <a:srgbClr val="3B5C6A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4"/>
              </a:rPr>
              <a:t>https://realpython.com/python-exceptions/</a:t>
            </a:r>
            <a:endParaRPr sz="1200" dirty="0">
              <a:solidFill>
                <a:srgbClr val="3B5C6A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63" name="Google Shape;263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4294" y="3684004"/>
            <a:ext cx="6705600" cy="18002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 smtClean="0">
                <a:solidFill>
                  <a:srgbClr val="3B5C6A"/>
                </a:solidFill>
              </a:rPr>
              <a:t>3. MANEJO DE ERRORES</a:t>
            </a:r>
            <a:endParaRPr lang="es-PE" sz="4400" dirty="0">
              <a:solidFill>
                <a:srgbClr val="3B5C6A"/>
              </a:solidFill>
            </a:endParaRPr>
          </a:p>
        </p:txBody>
      </p:sp>
      <p:sp>
        <p:nvSpPr>
          <p:cNvPr id="270" name="Google Shape;270;p45"/>
          <p:cNvSpPr txBox="1"/>
          <p:nvPr/>
        </p:nvSpPr>
        <p:spPr>
          <a:xfrm>
            <a:off x="4709635" y="6009921"/>
            <a:ext cx="3000000" cy="4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PE" sz="1200" u="sng" dirty="0">
                <a:solidFill>
                  <a:srgbClr val="3B5C6A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3"/>
              </a:rPr>
              <a:t>https://realpython.com/python-exceptions/</a:t>
            </a:r>
            <a:endParaRPr sz="1200" dirty="0">
              <a:solidFill>
                <a:srgbClr val="3B5C6A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71" name="Google Shape;27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2500" y="1797701"/>
            <a:ext cx="5604175" cy="39696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 smtClean="0"/>
              <a:t>4. LIST COMPREHENSIONS</a:t>
            </a:r>
            <a:endParaRPr lang="es-PE" sz="4400" dirty="0"/>
          </a:p>
        </p:txBody>
      </p:sp>
      <p:sp>
        <p:nvSpPr>
          <p:cNvPr id="278" name="Google Shape;278;p4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342900" indent="-285750" algn="just">
              <a:spcBef>
                <a:spcPts val="0"/>
              </a:spcBef>
              <a:buSzPct val="100000"/>
              <a:buFont typeface="Arial"/>
              <a:buChar char="•"/>
            </a:pPr>
            <a:r>
              <a:rPr lang="es-PE" sz="2800" dirty="0"/>
              <a:t>Herramienta poderosa.</a:t>
            </a:r>
            <a:endParaRPr sz="2800" dirty="0"/>
          </a:p>
          <a:p>
            <a:pPr marL="342900" indent="-285750" algn="just">
              <a:spcBef>
                <a:spcPts val="0"/>
              </a:spcBef>
              <a:buChar char="•"/>
            </a:pPr>
            <a:r>
              <a:rPr lang="es-PE" sz="2800" dirty="0"/>
              <a:t>Reduce líneas de código.</a:t>
            </a:r>
            <a:endParaRPr sz="2800" dirty="0"/>
          </a:p>
          <a:p>
            <a:pPr marL="342900" indent="-285750" algn="just">
              <a:spcBef>
                <a:spcPts val="0"/>
              </a:spcBef>
              <a:buChar char="•"/>
            </a:pPr>
            <a:r>
              <a:rPr lang="es-PE" sz="2800" dirty="0"/>
              <a:t>Componentes:</a:t>
            </a:r>
            <a:endParaRPr sz="2800" dirty="0"/>
          </a:p>
          <a:p>
            <a:pPr marL="709612" lvl="1" indent="-342900" algn="just">
              <a:spcBef>
                <a:spcPts val="0"/>
              </a:spcBef>
              <a:buFont typeface="Calibri Light" panose="020F0302020204030204" pitchFamily="34" charset="0"/>
              <a:buChar char="−"/>
            </a:pPr>
            <a:r>
              <a:rPr lang="es-PE" sz="2400" dirty="0"/>
              <a:t>Lista</a:t>
            </a:r>
            <a:endParaRPr sz="2400" dirty="0"/>
          </a:p>
          <a:p>
            <a:pPr marL="709612" lvl="1" indent="-342900" algn="just">
              <a:spcBef>
                <a:spcPts val="0"/>
              </a:spcBef>
              <a:buFont typeface="Calibri Light" panose="020F0302020204030204" pitchFamily="34" charset="0"/>
              <a:buChar char="−"/>
            </a:pPr>
            <a:r>
              <a:rPr lang="es-PE" sz="2400" dirty="0"/>
              <a:t>Bucle</a:t>
            </a:r>
            <a:endParaRPr sz="2400" dirty="0"/>
          </a:p>
          <a:p>
            <a:pPr marL="709612" lvl="1" indent="-342900" algn="just">
              <a:spcBef>
                <a:spcPts val="0"/>
              </a:spcBef>
              <a:buFont typeface="Calibri Light" panose="020F0302020204030204" pitchFamily="34" charset="0"/>
              <a:buChar char="−"/>
            </a:pPr>
            <a:r>
              <a:rPr lang="es-PE" sz="2400" dirty="0"/>
              <a:t>Condición</a:t>
            </a:r>
            <a:endParaRPr sz="2400" dirty="0"/>
          </a:p>
          <a:p>
            <a:pPr marL="0" indent="-83820" algn="just">
              <a:spcBef>
                <a:spcPts val="0"/>
              </a:spcBef>
              <a:buChar char="•"/>
            </a:pPr>
            <a:endParaRPr dirty="0"/>
          </a:p>
          <a:p>
            <a:pPr marL="342900" indent="-203200" algn="just">
              <a:buSzPts val="2200"/>
            </a:pPr>
            <a:endParaRPr dirty="0"/>
          </a:p>
          <a:p>
            <a:pPr marL="0" indent="0"/>
            <a:endParaRPr dirty="0"/>
          </a:p>
        </p:txBody>
      </p:sp>
      <p:pic>
        <p:nvPicPr>
          <p:cNvPr id="279" name="Google Shape;27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3155" y="3677906"/>
            <a:ext cx="5005200" cy="6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6"/>
          <p:cNvSpPr txBox="1"/>
          <p:nvPr/>
        </p:nvSpPr>
        <p:spPr>
          <a:xfrm>
            <a:off x="4795705" y="5306229"/>
            <a:ext cx="4280100" cy="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PE" u="sng" dirty="0">
                <a:solidFill>
                  <a:srgbClr val="3B5C6A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4"/>
              </a:rPr>
              <a:t>https://realpython.com/list-comprehension-python/</a:t>
            </a:r>
            <a:endParaRPr dirty="0">
              <a:solidFill>
                <a:srgbClr val="3B5C6A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dirty="0">
              <a:solidFill>
                <a:srgbClr val="3B5C6A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 smtClean="0"/>
              <a:t>5. FUNCIONES LAMBDA</a:t>
            </a:r>
            <a:endParaRPr lang="es-PE" sz="4400" dirty="0"/>
          </a:p>
        </p:txBody>
      </p:sp>
      <p:sp>
        <p:nvSpPr>
          <p:cNvPr id="287" name="Google Shape;287;p4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447675" indent="-392113" algn="just">
              <a:spcBef>
                <a:spcPts val="0"/>
              </a:spcBef>
              <a:buSzPct val="100000"/>
            </a:pPr>
            <a:r>
              <a:rPr lang="es-PE" sz="2800" dirty="0"/>
              <a:t>Origen: Lambda calculus (1930).</a:t>
            </a:r>
            <a:endParaRPr sz="2800" dirty="0"/>
          </a:p>
          <a:p>
            <a:pPr marL="447675" indent="-392113" algn="just">
              <a:spcBef>
                <a:spcPts val="0"/>
              </a:spcBef>
            </a:pPr>
            <a:r>
              <a:rPr lang="es-PE" sz="2800" dirty="0"/>
              <a:t>Lenguaje funcional.</a:t>
            </a:r>
            <a:endParaRPr sz="2800" dirty="0"/>
          </a:p>
          <a:p>
            <a:pPr marL="447675" indent="-392113" algn="just">
              <a:spcBef>
                <a:spcPts val="0"/>
              </a:spcBef>
            </a:pPr>
            <a:r>
              <a:rPr lang="es-PE" sz="2800" dirty="0"/>
              <a:t>No precisamente el paradigma de Python, pero se importó.</a:t>
            </a:r>
            <a:endParaRPr sz="2800" dirty="0"/>
          </a:p>
          <a:p>
            <a:pPr marL="447675" indent="-392113" algn="just">
              <a:spcBef>
                <a:spcPts val="0"/>
              </a:spcBef>
            </a:pPr>
            <a:r>
              <a:rPr lang="es-PE" sz="2800" dirty="0"/>
              <a:t>También se conoce como función anónima.</a:t>
            </a:r>
            <a:endParaRPr sz="2800" dirty="0"/>
          </a:p>
          <a:p>
            <a:pPr marL="0" indent="-83820" algn="just">
              <a:spcBef>
                <a:spcPts val="0"/>
              </a:spcBef>
              <a:buChar char="•"/>
            </a:pPr>
            <a:endParaRPr dirty="0"/>
          </a:p>
          <a:p>
            <a:pPr marL="342900" indent="-203200" algn="just">
              <a:buSzPts val="2200"/>
            </a:pPr>
            <a:endParaRPr dirty="0"/>
          </a:p>
          <a:p>
            <a:pPr marL="0" indent="0"/>
            <a:endParaRPr dirty="0"/>
          </a:p>
        </p:txBody>
      </p:sp>
      <p:sp>
        <p:nvSpPr>
          <p:cNvPr id="288" name="Google Shape;288;p47"/>
          <p:cNvSpPr txBox="1"/>
          <p:nvPr/>
        </p:nvSpPr>
        <p:spPr>
          <a:xfrm>
            <a:off x="4255350" y="5449763"/>
            <a:ext cx="3681300" cy="7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PE" u="sng" dirty="0">
                <a:solidFill>
                  <a:srgbClr val="3B5C6A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3"/>
              </a:rPr>
              <a:t>https://realpython.com/python-lambda/</a:t>
            </a:r>
            <a:endParaRPr dirty="0">
              <a:solidFill>
                <a:srgbClr val="3B5C6A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89" name="Google Shape;289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0387" y="4001294"/>
            <a:ext cx="3003825" cy="553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>
                <a:solidFill>
                  <a:srgbClr val="3B5C6A"/>
                </a:solidFill>
              </a:rPr>
              <a:t>6. </a:t>
            </a:r>
            <a:r>
              <a:rPr lang="es-PE" sz="4400" dirty="0" smtClean="0">
                <a:solidFill>
                  <a:srgbClr val="3B5C6A"/>
                </a:solidFill>
              </a:rPr>
              <a:t>MAP/REDUCE/FILTER</a:t>
            </a:r>
            <a:endParaRPr sz="4400" dirty="0">
              <a:solidFill>
                <a:srgbClr val="3B5C6A"/>
              </a:solidFill>
            </a:endParaRPr>
          </a:p>
        </p:txBody>
      </p:sp>
      <p:sp>
        <p:nvSpPr>
          <p:cNvPr id="296" name="Google Shape;296;p4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342900" indent="-342900">
              <a:spcBef>
                <a:spcPts val="0"/>
              </a:spcBef>
              <a:buSzPts val="2200"/>
              <a:buFont typeface="Arial"/>
              <a:buChar char="•"/>
            </a:pPr>
            <a:r>
              <a:rPr lang="es-PE" sz="2800" b="1" dirty="0">
                <a:solidFill>
                  <a:srgbClr val="3B5C6A"/>
                </a:solidFill>
              </a:rPr>
              <a:t>Map</a:t>
            </a:r>
            <a:r>
              <a:rPr lang="es-PE" sz="2800" dirty="0">
                <a:solidFill>
                  <a:srgbClr val="3B5C6A"/>
                </a:solidFill>
              </a:rPr>
              <a:t> aplica una misma función en distintos elementos.</a:t>
            </a:r>
            <a:endParaRPr sz="2800" dirty="0">
              <a:solidFill>
                <a:srgbClr val="3B5C6A"/>
              </a:solidFill>
            </a:endParaRPr>
          </a:p>
          <a:p>
            <a:pPr marL="0" indent="0"/>
            <a:endParaRPr dirty="0">
              <a:solidFill>
                <a:srgbClr val="3B5C6A"/>
              </a:solidFill>
            </a:endParaRPr>
          </a:p>
        </p:txBody>
      </p:sp>
      <p:sp>
        <p:nvSpPr>
          <p:cNvPr id="297" name="Google Shape;297;p48"/>
          <p:cNvSpPr txBox="1"/>
          <p:nvPr/>
        </p:nvSpPr>
        <p:spPr>
          <a:xfrm>
            <a:off x="3683339" y="5016775"/>
            <a:ext cx="4997608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PE" u="sng" dirty="0">
                <a:solidFill>
                  <a:srgbClr val="3B5C6A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3"/>
              </a:rPr>
              <a:t>https://www.learnpython.org/en/Map,_Filter,_Reduce</a:t>
            </a:r>
            <a:endParaRPr dirty="0">
              <a:solidFill>
                <a:srgbClr val="3B5C6A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98" name="Google Shape;29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3339" y="2903757"/>
            <a:ext cx="4160700" cy="15807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 smtClean="0">
                <a:solidFill>
                  <a:srgbClr val="3B5C6A"/>
                </a:solidFill>
              </a:rPr>
              <a:t>6. MAP/REDUCE/FILTER</a:t>
            </a:r>
            <a:endParaRPr lang="es-PE" sz="4400" dirty="0">
              <a:solidFill>
                <a:srgbClr val="3B5C6A"/>
              </a:solidFill>
            </a:endParaRPr>
          </a:p>
        </p:txBody>
      </p:sp>
      <p:sp>
        <p:nvSpPr>
          <p:cNvPr id="305" name="Google Shape;305;p4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342900" indent="-342900" algn="just">
              <a:spcBef>
                <a:spcPts val="0"/>
              </a:spcBef>
              <a:buSzPts val="2200"/>
              <a:buFont typeface="Arial"/>
              <a:buChar char="•"/>
            </a:pPr>
            <a:r>
              <a:rPr lang="es-PE" sz="2800" b="1" dirty="0">
                <a:solidFill>
                  <a:srgbClr val="3B5C6A"/>
                </a:solidFill>
              </a:rPr>
              <a:t>Filter</a:t>
            </a:r>
            <a:r>
              <a:rPr lang="es-PE" sz="2800" dirty="0">
                <a:solidFill>
                  <a:srgbClr val="3B5C6A"/>
                </a:solidFill>
              </a:rPr>
              <a:t> aplica un filtro a aquellos elementos que se evalúan como False.</a:t>
            </a:r>
            <a:endParaRPr sz="2800" dirty="0">
              <a:solidFill>
                <a:srgbClr val="3B5C6A"/>
              </a:solidFill>
            </a:endParaRPr>
          </a:p>
          <a:p>
            <a:pPr marL="0" indent="0"/>
            <a:endParaRPr dirty="0">
              <a:solidFill>
                <a:srgbClr val="3B5C6A"/>
              </a:solidFill>
            </a:endParaRPr>
          </a:p>
        </p:txBody>
      </p:sp>
      <p:sp>
        <p:nvSpPr>
          <p:cNvPr id="306" name="Google Shape;306;p49"/>
          <p:cNvSpPr txBox="1"/>
          <p:nvPr/>
        </p:nvSpPr>
        <p:spPr>
          <a:xfrm>
            <a:off x="3522714" y="5361462"/>
            <a:ext cx="48768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s-PE" u="sng" dirty="0">
                <a:solidFill>
                  <a:srgbClr val="3B5C6A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3"/>
              </a:rPr>
              <a:t>https://www.learnpython.org/en/Map,_Filter,_Reduce</a:t>
            </a:r>
            <a:endParaRPr dirty="0">
              <a:solidFill>
                <a:srgbClr val="3B5C6A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07" name="Google Shape;307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600" y="2812364"/>
            <a:ext cx="4607028" cy="215283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 smtClean="0"/>
              <a:t>6. MAP/REDUCE/FILTER</a:t>
            </a:r>
            <a:endParaRPr lang="es-PE" sz="4400" dirty="0"/>
          </a:p>
        </p:txBody>
      </p:sp>
      <p:sp>
        <p:nvSpPr>
          <p:cNvPr id="314" name="Google Shape;314;p5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342900" indent="-342900" algn="just">
              <a:spcBef>
                <a:spcPts val="0"/>
              </a:spcBef>
              <a:buSzPct val="100000"/>
              <a:buFont typeface="Arial"/>
              <a:buChar char="•"/>
            </a:pPr>
            <a:r>
              <a:rPr lang="es-PE" sz="2800" b="1" dirty="0"/>
              <a:t>Reduce</a:t>
            </a:r>
            <a:r>
              <a:rPr lang="es-PE" sz="2800" dirty="0"/>
              <a:t> es una función que agrega y reduce el número de elementos en una colección</a:t>
            </a:r>
            <a:endParaRPr sz="2800" dirty="0"/>
          </a:p>
          <a:p>
            <a:pPr marL="342900" indent="-287020" algn="just">
              <a:spcBef>
                <a:spcPts val="0"/>
              </a:spcBef>
              <a:buChar char="•"/>
            </a:pPr>
            <a:r>
              <a:rPr lang="es-PE" sz="2800" dirty="0"/>
              <a:t>Se debe importar.</a:t>
            </a:r>
            <a:endParaRPr sz="2800" dirty="0"/>
          </a:p>
          <a:p>
            <a:pPr marL="0" indent="0" algn="just"/>
            <a:endParaRPr dirty="0"/>
          </a:p>
        </p:txBody>
      </p:sp>
      <p:sp>
        <p:nvSpPr>
          <p:cNvPr id="315" name="Google Shape;315;p50"/>
          <p:cNvSpPr txBox="1"/>
          <p:nvPr/>
        </p:nvSpPr>
        <p:spPr>
          <a:xfrm>
            <a:off x="3892540" y="5285698"/>
            <a:ext cx="48768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s-PE" u="sng" dirty="0">
                <a:solidFill>
                  <a:srgbClr val="3B5C6A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3"/>
              </a:rPr>
              <a:t>https://www.learnpython.org/en/Map,_Filter,_Reduce</a:t>
            </a:r>
            <a:endParaRPr dirty="0">
              <a:solidFill>
                <a:srgbClr val="3B5C6A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16" name="Google Shape;316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3699" y="3141043"/>
            <a:ext cx="3914481" cy="172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 smtClean="0"/>
              <a:t>7. GENERADORES</a:t>
            </a:r>
            <a:endParaRPr lang="es-PE" sz="4400" dirty="0"/>
          </a:p>
        </p:txBody>
      </p:sp>
      <p:sp>
        <p:nvSpPr>
          <p:cNvPr id="323" name="Google Shape;323;p51"/>
          <p:cNvSpPr txBox="1">
            <a:spLocks noGrp="1"/>
          </p:cNvSpPr>
          <p:nvPr>
            <p:ph idx="1"/>
          </p:nvPr>
        </p:nvSpPr>
        <p:spPr>
          <a:xfrm>
            <a:off x="838201" y="1825625"/>
            <a:ext cx="571189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342900" indent="-285750" algn="just">
              <a:spcBef>
                <a:spcPts val="0"/>
              </a:spcBef>
              <a:buSzPct val="100000"/>
              <a:buFont typeface="Arial"/>
              <a:buChar char="•"/>
            </a:pPr>
            <a:r>
              <a:rPr lang="es-PE" sz="2800" dirty="0"/>
              <a:t>Generadores son iteradores.</a:t>
            </a:r>
            <a:endParaRPr sz="2800" dirty="0"/>
          </a:p>
          <a:p>
            <a:pPr marL="342900" indent="-285750" algn="just">
              <a:spcBef>
                <a:spcPts val="0"/>
              </a:spcBef>
              <a:buChar char="•"/>
            </a:pPr>
            <a:r>
              <a:rPr lang="es-PE" sz="2800" dirty="0"/>
              <a:t>Ahorra espacio.</a:t>
            </a:r>
            <a:endParaRPr sz="2800" dirty="0"/>
          </a:p>
          <a:p>
            <a:pPr marL="342900" indent="-285750" algn="just">
              <a:spcBef>
                <a:spcPts val="0"/>
              </a:spcBef>
              <a:buChar char="•"/>
            </a:pPr>
            <a:r>
              <a:rPr lang="es-PE" sz="2800" dirty="0"/>
              <a:t>Requerimiento para manejar grandes cantidades de datos.</a:t>
            </a:r>
            <a:endParaRPr sz="2800" dirty="0"/>
          </a:p>
          <a:p>
            <a:pPr marL="342900" indent="-285750" algn="just">
              <a:spcBef>
                <a:spcPts val="0"/>
              </a:spcBef>
              <a:buChar char="•"/>
            </a:pPr>
            <a:r>
              <a:rPr lang="es-PE" sz="2800" dirty="0"/>
              <a:t>Elementos:</a:t>
            </a:r>
            <a:endParaRPr sz="2800" dirty="0"/>
          </a:p>
          <a:p>
            <a:pPr marL="709612" lvl="1" indent="-342900" algn="just">
              <a:spcBef>
                <a:spcPts val="0"/>
              </a:spcBef>
              <a:buFont typeface="Calibri Light" panose="020F0302020204030204" pitchFamily="34" charset="0"/>
              <a:buChar char="−"/>
            </a:pPr>
            <a:r>
              <a:rPr lang="es-PE" sz="2400" dirty="0"/>
              <a:t>Componentes del list comprehension, pero usando ().</a:t>
            </a:r>
            <a:endParaRPr sz="2400" dirty="0"/>
          </a:p>
          <a:p>
            <a:pPr marL="709612" lvl="1" indent="-342900" algn="just">
              <a:spcBef>
                <a:spcPts val="0"/>
              </a:spcBef>
              <a:buFont typeface="Calibri Light" panose="020F0302020204030204" pitchFamily="34" charset="0"/>
              <a:buChar char="−"/>
            </a:pPr>
            <a:r>
              <a:rPr lang="es-PE" sz="2400" dirty="0"/>
              <a:t>Yield.</a:t>
            </a:r>
            <a:endParaRPr sz="2400" dirty="0"/>
          </a:p>
          <a:p>
            <a:pPr marL="709612" lvl="1" indent="-342900" algn="just">
              <a:spcBef>
                <a:spcPts val="0"/>
              </a:spcBef>
              <a:buFont typeface="Calibri Light" panose="020F0302020204030204" pitchFamily="34" charset="0"/>
              <a:buChar char="−"/>
            </a:pPr>
            <a:r>
              <a:rPr lang="es-PE" sz="2400" dirty="0"/>
              <a:t>Comando next.</a:t>
            </a:r>
            <a:endParaRPr sz="2400" dirty="0"/>
          </a:p>
          <a:p>
            <a:pPr marL="0" indent="0" algn="just"/>
            <a:endParaRPr dirty="0"/>
          </a:p>
        </p:txBody>
      </p:sp>
      <p:sp>
        <p:nvSpPr>
          <p:cNvPr id="324" name="Google Shape;324;p51"/>
          <p:cNvSpPr txBox="1"/>
          <p:nvPr/>
        </p:nvSpPr>
        <p:spPr>
          <a:xfrm>
            <a:off x="3892422" y="5683996"/>
            <a:ext cx="48768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PE" u="sng" dirty="0">
                <a:solidFill>
                  <a:schemeClr val="hlink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3"/>
              </a:rPr>
              <a:t>https://realpython.com/introduction-to-python-generators/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25" name="Google Shape;325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8433" y="1751227"/>
            <a:ext cx="4478401" cy="343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 smtClean="0"/>
              <a:t>8. DECORADORES</a:t>
            </a:r>
            <a:endParaRPr lang="es-PE" sz="4400" dirty="0"/>
          </a:p>
        </p:txBody>
      </p:sp>
      <p:sp>
        <p:nvSpPr>
          <p:cNvPr id="332" name="Google Shape;332;p52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5562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342900" indent="-342900" algn="just">
              <a:spcBef>
                <a:spcPts val="0"/>
              </a:spcBef>
              <a:buClr>
                <a:srgbClr val="3B5C6A"/>
              </a:buClr>
              <a:buSzPct val="100000"/>
              <a:buFont typeface="Arial"/>
              <a:buChar char="•"/>
            </a:pPr>
            <a:r>
              <a:rPr lang="es-PE" sz="2800" dirty="0"/>
              <a:t>Es una función que extiende la funcionalidad de otra función son modificarla.</a:t>
            </a:r>
            <a:endParaRPr sz="2800" dirty="0"/>
          </a:p>
          <a:p>
            <a:pPr marL="342900" indent="-342900">
              <a:spcBef>
                <a:spcPts val="0"/>
              </a:spcBef>
              <a:buClr>
                <a:srgbClr val="3B5C6A"/>
              </a:buClr>
              <a:buSzPct val="100000"/>
              <a:buFont typeface="Arial"/>
              <a:buChar char="•"/>
            </a:pPr>
            <a:r>
              <a:rPr lang="es-PE" sz="2800" dirty="0"/>
              <a:t>Se distinguen por @. </a:t>
            </a:r>
            <a:endParaRPr sz="2800" dirty="0"/>
          </a:p>
          <a:p>
            <a:pPr marL="0" indent="0"/>
            <a:endParaRPr dirty="0"/>
          </a:p>
        </p:txBody>
      </p:sp>
      <p:sp>
        <p:nvSpPr>
          <p:cNvPr id="333" name="Google Shape;333;p52"/>
          <p:cNvSpPr txBox="1"/>
          <p:nvPr/>
        </p:nvSpPr>
        <p:spPr>
          <a:xfrm>
            <a:off x="3962400" y="5145783"/>
            <a:ext cx="48768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s-PE" u="sng" dirty="0">
                <a:solidFill>
                  <a:srgbClr val="3B5C6A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3"/>
              </a:rPr>
              <a:t>https://realpython.com/primer-on-python-decorators/</a:t>
            </a:r>
            <a:endParaRPr dirty="0">
              <a:solidFill>
                <a:srgbClr val="3B5C6A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34" name="Google Shape;334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0244" y="1993576"/>
            <a:ext cx="4573556" cy="2406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 smtClean="0"/>
              <a:t>LABORATORIO Nº 2: PROFUNDIZAR EN PYTHON</a:t>
            </a:r>
            <a:endParaRPr lang="es-PE" sz="4400" dirty="0"/>
          </a:p>
        </p:txBody>
      </p:sp>
      <p:sp>
        <p:nvSpPr>
          <p:cNvPr id="340" name="Google Shape;340;p5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indent="0" algn="just">
              <a:spcBef>
                <a:spcPts val="0"/>
              </a:spcBef>
              <a:buSzPts val="1320"/>
              <a:buNone/>
            </a:pPr>
            <a:r>
              <a:rPr lang="es-PE" sz="2800" dirty="0"/>
              <a:t>Al finalizar el laboratorio, el alumno logrará:</a:t>
            </a:r>
            <a:endParaRPr sz="2800" dirty="0"/>
          </a:p>
          <a:p>
            <a:pPr marL="0" indent="0" algn="just">
              <a:buSzPts val="1320"/>
            </a:pPr>
            <a:endParaRPr sz="2800" dirty="0"/>
          </a:p>
          <a:p>
            <a:pPr marL="342900" indent="-342900" algn="just">
              <a:buSzPts val="2200"/>
              <a:buFont typeface="Arial"/>
              <a:buChar char="•"/>
            </a:pPr>
            <a:r>
              <a:rPr lang="es-PE" sz="2800" dirty="0"/>
              <a:t>Ejecutar código de Python en un Notebook Jupyter.</a:t>
            </a:r>
            <a:endParaRPr sz="2800" dirty="0"/>
          </a:p>
          <a:p>
            <a:pPr marL="342900" indent="-342900" algn="just">
              <a:buSzPts val="2200"/>
              <a:buFont typeface="Arial"/>
              <a:buChar char="•"/>
            </a:pPr>
            <a:r>
              <a:rPr lang="es-PE" sz="2800" dirty="0"/>
              <a:t>Profundizar en Python.</a:t>
            </a:r>
            <a:endParaRPr sz="2800" dirty="0"/>
          </a:p>
          <a:p>
            <a:pPr marL="285750" indent="-146050">
              <a:buClr>
                <a:srgbClr val="C00000"/>
              </a:buClr>
              <a:buSzPts val="2200"/>
            </a:pPr>
            <a:endParaRPr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ES" sz="4400" dirty="0" smtClean="0"/>
              <a:t>TAREA Nº 2:  PROFUNDIZAR EN PYTHON </a:t>
            </a:r>
            <a:endParaRPr lang="es-ES" sz="4400" dirty="0"/>
          </a:p>
        </p:txBody>
      </p:sp>
      <p:sp>
        <p:nvSpPr>
          <p:cNvPr id="358" name="Google Shape;358;p5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SzPct val="100000"/>
              <a:buFont typeface="Arial"/>
              <a:buChar char="•"/>
            </a:pPr>
            <a:r>
              <a:rPr lang="es-PE" sz="2800" dirty="0" smtClean="0"/>
              <a:t>Resolver </a:t>
            </a:r>
            <a:r>
              <a:rPr lang="es-PE" sz="2800" dirty="0"/>
              <a:t>los ejercicios en el Notebook Jupyter compartido.</a:t>
            </a:r>
            <a:endParaRPr sz="2800" dirty="0"/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SzPct val="100000"/>
              <a:buFont typeface="Arial"/>
              <a:buChar char="•"/>
            </a:pPr>
            <a:r>
              <a:rPr lang="es-PE" sz="2800" dirty="0"/>
              <a:t>Enviar en </a:t>
            </a:r>
            <a:r>
              <a:rPr lang="es-PE" sz="2800" b="1" dirty="0"/>
              <a:t>Notebook Jupyter </a:t>
            </a:r>
            <a:r>
              <a:rPr lang="es-PE" sz="2800" dirty="0"/>
              <a:t>por correo al instructor.</a:t>
            </a:r>
            <a:endParaRPr sz="2800" dirty="0"/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SzPct val="100000"/>
            </a:pPr>
            <a:endParaRPr sz="28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 smtClean="0"/>
              <a:t>RESUMEN</a:t>
            </a:r>
            <a:endParaRPr lang="es-PE" sz="4400" dirty="0"/>
          </a:p>
        </p:txBody>
      </p:sp>
      <p:sp>
        <p:nvSpPr>
          <p:cNvPr id="352" name="Google Shape;352;p5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indent="0" algn="just">
              <a:spcBef>
                <a:spcPts val="0"/>
              </a:spcBef>
              <a:buSzPts val="1320"/>
              <a:buNone/>
            </a:pPr>
            <a:r>
              <a:rPr lang="es-PE" sz="2800" dirty="0"/>
              <a:t>En este capítulo, usted aprendió: </a:t>
            </a:r>
            <a:endParaRPr sz="2800" dirty="0"/>
          </a:p>
          <a:p>
            <a:pPr marL="0" indent="0" algn="just">
              <a:spcBef>
                <a:spcPts val="0"/>
              </a:spcBef>
              <a:buSzPts val="1320"/>
            </a:pPr>
            <a:endParaRPr sz="2800" dirty="0"/>
          </a:p>
          <a:p>
            <a:pPr marL="342900" indent="-342900" algn="just">
              <a:spcBef>
                <a:spcPts val="0"/>
              </a:spcBef>
              <a:buSzPct val="100000"/>
              <a:buFont typeface="Arial"/>
              <a:buChar char="•"/>
            </a:pPr>
            <a:r>
              <a:rPr lang="es-PE" sz="2800" dirty="0"/>
              <a:t>Python ofrece numerosas herramientas para potenciar la programación.</a:t>
            </a:r>
            <a:endParaRPr sz="2800" dirty="0"/>
          </a:p>
          <a:p>
            <a:pPr marL="0" indent="0" algn="just">
              <a:spcBef>
                <a:spcPts val="0"/>
              </a:spcBef>
            </a:pPr>
            <a:endParaRPr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26297D-555D-6489-E4D5-201CDDFB1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400" dirty="0" smtClean="0"/>
              <a:t>BIBLIOGRAFÍA</a:t>
            </a:r>
            <a:endParaRPr lang="es-PE" sz="4400" dirty="0"/>
          </a:p>
        </p:txBody>
      </p:sp>
      <p:sp>
        <p:nvSpPr>
          <p:cNvPr id="5" name="Marcador de contenido 3"/>
          <p:cNvSpPr>
            <a:spLocks noGrp="1"/>
          </p:cNvSpPr>
          <p:nvPr/>
        </p:nvSpPr>
        <p:spPr>
          <a:xfrm>
            <a:off x="838200" y="1825625"/>
            <a:ext cx="10896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96441" indent="-96441" algn="l" defTabSz="385763" rtl="0" eaLnBrk="1" latinLnBrk="0" hangingPunct="1">
              <a:lnSpc>
                <a:spcPct val="90000"/>
              </a:lnSpc>
              <a:spcBef>
                <a:spcPts val="422"/>
              </a:spcBef>
              <a:buFont typeface="Arial" panose="020B0604020202020204" pitchFamily="34" charset="0"/>
              <a:buChar char="•"/>
              <a:defRPr sz="1238" kern="1200">
                <a:solidFill>
                  <a:srgbClr val="03446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289322" indent="-96441" algn="l" defTabSz="385763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1013" kern="1200">
                <a:solidFill>
                  <a:srgbClr val="03446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482204" indent="-96441" algn="l" defTabSz="385763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844" kern="1200">
                <a:solidFill>
                  <a:srgbClr val="03446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675085" indent="-96441" algn="l" defTabSz="385763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rgbClr val="03446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67966" indent="-96441" algn="l" defTabSz="385763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rgbClr val="03446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060847" indent="-96441" algn="l" defTabSz="385763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3729" indent="-96441" algn="l" defTabSz="385763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6610" indent="-96441" algn="l" defTabSz="385763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39491" indent="-96441" algn="l" defTabSz="385763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lvl="0" indent="-361950">
              <a:spcBef>
                <a:spcPts val="0"/>
              </a:spcBef>
            </a:pPr>
            <a:r>
              <a:rPr lang="en-US" sz="2800" dirty="0"/>
              <a:t>Python. Python for beginners.</a:t>
            </a:r>
            <a:endParaRPr lang="es-PE" sz="2800" dirty="0"/>
          </a:p>
          <a:p>
            <a:pPr marL="361950" indent="0">
              <a:spcBef>
                <a:spcPts val="0"/>
              </a:spcBef>
              <a:buNone/>
            </a:pPr>
            <a:r>
              <a:rPr lang="en-US" sz="2800" u="sng" dirty="0">
                <a:hlinkClick r:id="rId2"/>
              </a:rPr>
              <a:t>https://www.python.org/doc/</a:t>
            </a:r>
            <a:endParaRPr lang="es-PE" sz="2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/>
              <a:t> </a:t>
            </a:r>
            <a:endParaRPr lang="es-PE" sz="2800" dirty="0"/>
          </a:p>
          <a:p>
            <a:pPr marL="361950" lvl="0" indent="-361950">
              <a:spcBef>
                <a:spcPts val="0"/>
              </a:spcBef>
            </a:pPr>
            <a:r>
              <a:rPr lang="en-US" sz="2800" dirty="0" err="1"/>
              <a:t>Scikit</a:t>
            </a:r>
            <a:r>
              <a:rPr lang="en-US" sz="2800" dirty="0"/>
              <a:t>-learn. </a:t>
            </a:r>
            <a:r>
              <a:rPr lang="es-PE" sz="2800" dirty="0"/>
              <a:t>Biblioteca de aprendizaje automático.</a:t>
            </a:r>
          </a:p>
          <a:p>
            <a:pPr marL="361950" indent="0">
              <a:spcBef>
                <a:spcPts val="0"/>
              </a:spcBef>
              <a:buNone/>
            </a:pPr>
            <a:r>
              <a:rPr lang="en-US" sz="2800" u="sng" dirty="0">
                <a:hlinkClick r:id="rId3"/>
              </a:rPr>
              <a:t>https://scikit-learn.org/stable/</a:t>
            </a:r>
            <a:endParaRPr lang="es-PE" sz="2800" u="sng" dirty="0"/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/>
              <a:t> </a:t>
            </a:r>
            <a:endParaRPr lang="es-PE" sz="2800" dirty="0"/>
          </a:p>
          <a:p>
            <a:pPr marL="361950" lvl="0" indent="-361950">
              <a:spcBef>
                <a:spcPts val="0"/>
              </a:spcBef>
            </a:pPr>
            <a:r>
              <a:rPr lang="en-US" sz="2800" dirty="0" err="1"/>
              <a:t>TensorFlow</a:t>
            </a:r>
            <a:r>
              <a:rPr lang="en-US" sz="2800" dirty="0"/>
              <a:t>. </a:t>
            </a:r>
            <a:r>
              <a:rPr lang="es-ES" sz="2800" dirty="0"/>
              <a:t>Crea modelos de aprendizaje automático.</a:t>
            </a:r>
            <a:endParaRPr lang="es-PE" sz="2800" dirty="0"/>
          </a:p>
          <a:p>
            <a:pPr marL="361950" indent="0">
              <a:spcBef>
                <a:spcPts val="0"/>
              </a:spcBef>
              <a:buNone/>
            </a:pPr>
            <a:r>
              <a:rPr lang="en-US" sz="2800" u="sng" dirty="0">
                <a:hlinkClick r:id="rId4"/>
              </a:rPr>
              <a:t>https://www.tensorflow.org/?hl=es-419</a:t>
            </a:r>
            <a:endParaRPr lang="es-PE" sz="2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/>
              <a:t> </a:t>
            </a:r>
            <a:endParaRPr lang="es-PE" sz="2800" dirty="0"/>
          </a:p>
          <a:p>
            <a:pPr marL="361950" lvl="0" indent="-361950">
              <a:spcBef>
                <a:spcPts val="0"/>
              </a:spcBef>
            </a:pPr>
            <a:r>
              <a:rPr lang="en-US" sz="2800" dirty="0" err="1"/>
              <a:t>Kaggle</a:t>
            </a:r>
            <a:r>
              <a:rPr lang="en-US" sz="2800" dirty="0"/>
              <a:t>. </a:t>
            </a:r>
            <a:r>
              <a:rPr lang="es-PE" sz="2800" dirty="0"/>
              <a:t>Comunidad de científicos de datos del aprendizaje automático.</a:t>
            </a:r>
          </a:p>
          <a:p>
            <a:pPr marL="361950" indent="0">
              <a:spcBef>
                <a:spcPts val="0"/>
              </a:spcBef>
              <a:buNone/>
            </a:pPr>
            <a:r>
              <a:rPr lang="en-US" sz="2800" u="sng" dirty="0">
                <a:hlinkClick r:id="rId5"/>
              </a:rPr>
              <a:t>https://www.kaggle.com/</a:t>
            </a:r>
            <a:endParaRPr lang="es-PE" sz="2800" dirty="0"/>
          </a:p>
          <a:p>
            <a:pPr>
              <a:spcBef>
                <a:spcPts val="0"/>
              </a:spcBef>
            </a:pP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42654872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4227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 2013 - 2022">
  <a:themeElements>
    <a:clrScheme name="Personalizado 3">
      <a:dk1>
        <a:srgbClr val="FFFFFF"/>
      </a:dk1>
      <a:lt1>
        <a:sysClr val="window" lastClr="FFFFFF"/>
      </a:lt1>
      <a:dk2>
        <a:srgbClr val="FFFFF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 1" id="{25EF5B35-096C-4E19-ADCD-2D056F9D59B8}" vid="{98B33A97-DED6-4182-95CB-4258EFB13353}"/>
    </a:ext>
  </a:ext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4CA7FD359AA2944A41476ECA6512FDD" ma:contentTypeVersion="19" ma:contentTypeDescription="Crear nuevo documento." ma:contentTypeScope="" ma:versionID="a1d8a79bac2fa85a34d896afb5ff6b69">
  <xsd:schema xmlns:xsd="http://www.w3.org/2001/XMLSchema" xmlns:xs="http://www.w3.org/2001/XMLSchema" xmlns:p="http://schemas.microsoft.com/office/2006/metadata/properties" xmlns:ns2="c53dbc0e-7426-4e5e-a01a-d751dc3a484e" xmlns:ns3="e1b596fd-51a2-4813-b2ec-65f50de87ffe" targetNamespace="http://schemas.microsoft.com/office/2006/metadata/properties" ma:root="true" ma:fieldsID="1b47a73d97bba56d383154db0d28fc4d" ns2:_="" ns3:_="">
    <xsd:import namespace="c53dbc0e-7426-4e5e-a01a-d751dc3a484e"/>
    <xsd:import namespace="e1b596fd-51a2-4813-b2ec-65f50de87ffe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PermissionLevels" minOccurs="0"/>
                <xsd:element ref="ns2:MigrationWizIdDocumentLibraryPermissions" minOccurs="0"/>
                <xsd:element ref="ns2:MigrationWizIdSecurityGroup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3dbc0e-7426-4e5e-a01a-d751dc3a484e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PermissionLevels" ma:index="10" nillable="true" ma:displayName="MigrationWizIdPermissionLevels" ma:internalName="MigrationWizIdPermissionLevels">
      <xsd:simpleType>
        <xsd:restriction base="dms:Text"/>
      </xsd:simpleType>
    </xsd:element>
    <xsd:element name="MigrationWizIdDocumentLibraryPermissions" ma:index="11" nillable="true" ma:displayName="MigrationWizIdDocumentLibraryPermissions" ma:internalName="MigrationWizIdDocumentLibraryPermissions">
      <xsd:simpleType>
        <xsd:restriction base="dms:Text"/>
      </xsd:simpleType>
    </xsd:element>
    <xsd:element name="MigrationWizIdSecurityGroups" ma:index="12" nillable="true" ma:displayName="MigrationWizIdSecurityGroups" ma:internalName="MigrationWizIdSecurityGroups">
      <xsd:simpleType>
        <xsd:restriction base="dms:Text"/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76a0f718-64e7-4125-a6af-7a61992d9c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4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96fd-51a2-4813-b2ec-65f50de87ffe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d732825b-4d0f-44b0-936b-0d1b15772657}" ma:internalName="TaxCatchAll" ma:showField="CatchAllData" ma:web="e1b596fd-51a2-4813-b2ec-65f50de87f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53dbc0e-7426-4e5e-a01a-d751dc3a484e">
      <Terms xmlns="http://schemas.microsoft.com/office/infopath/2007/PartnerControls"/>
    </lcf76f155ced4ddcb4097134ff3c332f>
    <MigrationWizIdPermissions xmlns="c53dbc0e-7426-4e5e-a01a-d751dc3a484e" xsi:nil="true"/>
    <MigrationWizIdSecurityGroups xmlns="c53dbc0e-7426-4e5e-a01a-d751dc3a484e" xsi:nil="true"/>
    <MigrationWizIdPermissionLevels xmlns="c53dbc0e-7426-4e5e-a01a-d751dc3a484e" xsi:nil="true"/>
    <MigrationWizId xmlns="c53dbc0e-7426-4e5e-a01a-d751dc3a484e" xsi:nil="true"/>
    <MigrationWizIdDocumentLibraryPermissions xmlns="c53dbc0e-7426-4e5e-a01a-d751dc3a484e" xsi:nil="true"/>
    <TaxCatchAll xmlns="e1b596fd-51a2-4813-b2ec-65f50de87ffe" xsi:nil="true"/>
  </documentManagement>
</p:properties>
</file>

<file path=customXml/itemProps1.xml><?xml version="1.0" encoding="utf-8"?>
<ds:datastoreItem xmlns:ds="http://schemas.openxmlformats.org/officeDocument/2006/customXml" ds:itemID="{BBBD5AF0-A139-4798-A068-952E5AEF16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3dbc0e-7426-4e5e-a01a-d751dc3a484e"/>
    <ds:schemaRef ds:uri="e1b596fd-51a2-4813-b2ec-65f50de87f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3AE445F-E473-4EAB-ABA2-35DEB2DC3E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6B17E2-1C7A-4538-B6CB-D980F857CFEF}">
  <ds:schemaRefs>
    <ds:schemaRef ds:uri="http://schemas.microsoft.com/office/2006/metadata/properties"/>
    <ds:schemaRef ds:uri="http://schemas.microsoft.com/office/infopath/2007/PartnerControls"/>
    <ds:schemaRef ds:uri="c53dbc0e-7426-4e5e-a01a-d751dc3a484e"/>
    <ds:schemaRef ds:uri="e1b596fd-51a2-4813-b2ec-65f50de87ff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</TotalTime>
  <Words>516</Words>
  <Application>Microsoft Office PowerPoint</Application>
  <PresentationFormat>Panorámica</PresentationFormat>
  <Paragraphs>122</Paragraphs>
  <Slides>26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0" baseType="lpstr">
      <vt:lpstr>Arial</vt:lpstr>
      <vt:lpstr>Calibri Light</vt:lpstr>
      <vt:lpstr>Times New Roman</vt:lpstr>
      <vt:lpstr>Tema de Office 2013 - 2022</vt:lpstr>
      <vt:lpstr>Presentación de PowerPoint</vt:lpstr>
      <vt:lpstr>OBJETIVOS</vt:lpstr>
      <vt:lpstr>AGENDA</vt:lpstr>
      <vt:lpstr>1. PYTHON EN DATA SCIENCE</vt:lpstr>
      <vt:lpstr>1. PYTHON EN DATA SCIENCE - Exploración de datos -</vt:lpstr>
      <vt:lpstr>1. PYTHON EN DATA SCIENCE - Visualización -</vt:lpstr>
      <vt:lpstr>1. PYTHON EN DATA SCIENCE - Machine Learning -</vt:lpstr>
      <vt:lpstr>1. PYTHON EN DATA SCIENCE - NLP -</vt:lpstr>
      <vt:lpstr>1. PYTHON EN DATA SCIENCE - Computer Vision -</vt:lpstr>
      <vt:lpstr>1. PYTHON EN DATA SCIENCE - Deep Learning -</vt:lpstr>
      <vt:lpstr>1. PYTHON EN DATA SCIENCE - Big Data -</vt:lpstr>
      <vt:lpstr>2. OOP</vt:lpstr>
      <vt:lpstr>3. MANEJO DE ERRORES</vt:lpstr>
      <vt:lpstr>3. MANEJO DE ERRORES</vt:lpstr>
      <vt:lpstr>4. LIST COMPREHENSIONS</vt:lpstr>
      <vt:lpstr>5. FUNCIONES LAMBDA</vt:lpstr>
      <vt:lpstr>6. MAP/REDUCE/FILTER</vt:lpstr>
      <vt:lpstr>6. MAP/REDUCE/FILTER</vt:lpstr>
      <vt:lpstr>6. MAP/REDUCE/FILTER</vt:lpstr>
      <vt:lpstr>7. GENERADORES</vt:lpstr>
      <vt:lpstr>8. DECORADORES</vt:lpstr>
      <vt:lpstr>LABORATORIO Nº 2: PROFUNDIZAR EN PYTHON</vt:lpstr>
      <vt:lpstr>TAREA Nº 2:  PROFUNDIZAR EN PYTHON </vt:lpstr>
      <vt:lpstr>RESUMEN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Profundizar en Python</dc:title>
  <dc:creator>Elizabeth Bustamante Echevarria</dc:creator>
  <cp:lastModifiedBy>Elizabeth Bustamante Echevarria</cp:lastModifiedBy>
  <cp:revision>15</cp:revision>
  <dcterms:modified xsi:type="dcterms:W3CDTF">2023-05-11T17:20:26Z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0x010100C4CA7FD359AA2944A41476ECA6512FDD</vt:lpwstr>
  </property>
</Properties>
</file>